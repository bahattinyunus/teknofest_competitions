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notesMasterIdLst>
    <p:notesMasterId r:id="rId19"/>
  </p:notesMasterIdLst>
  <p:handoutMasterIdLst>
    <p:handoutMasterId r:id="rId20"/>
  </p:handoutMasterIdLst>
  <p:sldIdLst>
    <p:sldId id="266" r:id="rId3"/>
    <p:sldId id="258" r:id="rId4"/>
    <p:sldId id="290" r:id="rId5"/>
    <p:sldId id="294" r:id="rId6"/>
    <p:sldId id="295" r:id="rId7"/>
    <p:sldId id="296" r:id="rId8"/>
    <p:sldId id="297" r:id="rId9"/>
    <p:sldId id="271" r:id="rId10"/>
    <p:sldId id="280" r:id="rId11"/>
    <p:sldId id="281" r:id="rId12"/>
    <p:sldId id="288" r:id="rId13"/>
    <p:sldId id="289" r:id="rId14"/>
    <p:sldId id="284" r:id="rId15"/>
    <p:sldId id="285" r:id="rId16"/>
    <p:sldId id="286" r:id="rId17"/>
    <p:sldId id="287" r:id="rId18"/>
  </p:sldIdLst>
  <p:sldSz cx="9144000" cy="5143500" type="screen16x9"/>
  <p:notesSz cx="9144000" cy="51435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94660"/>
  </p:normalViewPr>
  <p:slideViewPr>
    <p:cSldViewPr>
      <p:cViewPr varScale="1">
        <p:scale>
          <a:sx n="133" d="100"/>
          <a:sy n="133" d="100"/>
        </p:scale>
        <p:origin x="1146"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9144000" cy="257175"/>
          </a:xfrm>
          <a:prstGeom prst="rect">
            <a:avLst/>
          </a:prstGeom>
        </p:spPr>
        <p:txBody>
          <a:bodyPr vert="horz" lIns="91440" tIns="45720" rIns="91440" bIns="45720" rtlCol="0"/>
          <a:lstStyle>
            <a:lvl1pPr algn="l">
              <a:defRPr sz="1200"/>
            </a:lvl1pPr>
          </a:lstStyle>
          <a:p>
            <a:r>
              <a:rPr lang="en-US" sz="1100" u="sng">
                <a:solidFill>
                  <a:srgbClr val="000000"/>
                </a:solidFill>
                <a:latin typeface="Calibri" panose="020F0502020204030204" pitchFamily="34" charset="0"/>
              </a:rPr>
              <a:t>TASNİF DIŞI</a:t>
            </a:r>
          </a:p>
        </p:txBody>
      </p:sp>
      <p:sp>
        <p:nvSpPr>
          <p:cNvPr id="3" name="Date Placeholder 2"/>
          <p:cNvSpPr>
            <a:spLocks noGrp="1"/>
          </p:cNvSpPr>
          <p:nvPr>
            <p:ph type="dt" sz="quarter" idx="1"/>
          </p:nvPr>
        </p:nvSpPr>
        <p:spPr>
          <a:xfrm>
            <a:off x="5180013" y="0"/>
            <a:ext cx="3962400" cy="257175"/>
          </a:xfrm>
          <a:prstGeom prst="rect">
            <a:avLst/>
          </a:prstGeom>
        </p:spPr>
        <p:txBody>
          <a:bodyPr vert="horz" lIns="91440" tIns="45720" rIns="91440" bIns="45720" rtlCol="0"/>
          <a:lstStyle>
            <a:lvl1pPr algn="r">
              <a:defRPr sz="1200"/>
            </a:lvl1pPr>
          </a:lstStyle>
          <a:p>
            <a:fld id="{0F43D5D4-4561-4276-82DB-9A82B4FD679B}" type="datetimeFigureOut">
              <a:rPr lang="en-US" smtClean="0"/>
              <a:t>8/18/2025</a:t>
            </a:fld>
            <a:endParaRPr lang="en-US"/>
          </a:p>
        </p:txBody>
      </p:sp>
      <p:sp>
        <p:nvSpPr>
          <p:cNvPr id="4" name="Footer Placeholder 3"/>
          <p:cNvSpPr>
            <a:spLocks noGrp="1"/>
          </p:cNvSpPr>
          <p:nvPr>
            <p:ph type="ftr" sz="quarter" idx="2"/>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4886325"/>
            <a:ext cx="3962400" cy="257175"/>
          </a:xfrm>
          <a:prstGeom prst="rect">
            <a:avLst/>
          </a:prstGeom>
        </p:spPr>
        <p:txBody>
          <a:bodyPr vert="horz" lIns="91440" tIns="45720" rIns="91440" bIns="45720" rtlCol="0" anchor="b"/>
          <a:lstStyle>
            <a:lvl1pPr algn="r">
              <a:defRPr sz="1200"/>
            </a:lvl1pPr>
          </a:lstStyle>
          <a:p>
            <a:fld id="{B9A70B5D-C401-43EA-8198-1965FAB13915}" type="slidenum">
              <a:rPr lang="en-US" smtClean="0"/>
              <a:t>‹#›</a:t>
            </a:fld>
            <a:endParaRPr lang="en-US"/>
          </a:p>
        </p:txBody>
      </p:sp>
    </p:spTree>
    <p:extLst>
      <p:ext uri="{BB962C8B-B14F-4D97-AF65-F5344CB8AC3E}">
        <p14:creationId xmlns:p14="http://schemas.microsoft.com/office/powerpoint/2010/main" val="334151514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9144000" cy="257175"/>
          </a:xfrm>
          <a:prstGeom prst="rect">
            <a:avLst/>
          </a:prstGeom>
        </p:spPr>
        <p:txBody>
          <a:bodyPr vert="horz" lIns="91440" tIns="45720" rIns="91440" bIns="45720" rtlCol="0"/>
          <a:lstStyle>
            <a:lvl1pPr algn="l">
              <a:defRPr lang="en-US" sz="1100" b="0" i="0" u="sng">
                <a:solidFill>
                  <a:srgbClr val="000000"/>
                </a:solidFill>
                <a:latin typeface="Calibri" panose="020F0502020204030204" pitchFamily="34" charset="0"/>
              </a:defRPr>
            </a:lvl1pPr>
          </a:lstStyle>
          <a:p>
            <a:r>
              <a:rPr lang="tr-TR"/>
              <a:t>TASNİF DIŞI</a:t>
            </a:r>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CF314D17-496B-4618-BF46-C025CB197974}" type="datetimeFigureOut">
              <a:rPr lang="en-US" smtClean="0"/>
              <a:t>8/18/2025</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588144FF-FCDC-4A40-8749-EDA78C643E64}" type="slidenum">
              <a:rPr lang="en-US" smtClean="0"/>
              <a:t>‹#›</a:t>
            </a:fld>
            <a:endParaRPr lang="en-US"/>
          </a:p>
        </p:txBody>
      </p:sp>
    </p:spTree>
    <p:extLst>
      <p:ext uri="{BB962C8B-B14F-4D97-AF65-F5344CB8AC3E}">
        <p14:creationId xmlns:p14="http://schemas.microsoft.com/office/powerpoint/2010/main" val="16067027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a:t>
            </a:fld>
            <a:endParaRPr lang="en-US"/>
          </a:p>
        </p:txBody>
      </p:sp>
    </p:spTree>
    <p:extLst>
      <p:ext uri="{BB962C8B-B14F-4D97-AF65-F5344CB8AC3E}">
        <p14:creationId xmlns:p14="http://schemas.microsoft.com/office/powerpoint/2010/main" val="2254013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2</a:t>
            </a:fld>
            <a:endParaRPr lang="en-US"/>
          </a:p>
        </p:txBody>
      </p:sp>
    </p:spTree>
    <p:extLst>
      <p:ext uri="{BB962C8B-B14F-4D97-AF65-F5344CB8AC3E}">
        <p14:creationId xmlns:p14="http://schemas.microsoft.com/office/powerpoint/2010/main" val="2650672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3</a:t>
            </a:fld>
            <a:endParaRPr lang="en-US"/>
          </a:p>
        </p:txBody>
      </p:sp>
    </p:spTree>
    <p:extLst>
      <p:ext uri="{BB962C8B-B14F-4D97-AF65-F5344CB8AC3E}">
        <p14:creationId xmlns:p14="http://schemas.microsoft.com/office/powerpoint/2010/main" val="3170903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4</a:t>
            </a:fld>
            <a:endParaRPr lang="en-US"/>
          </a:p>
        </p:txBody>
      </p:sp>
    </p:spTree>
    <p:extLst>
      <p:ext uri="{BB962C8B-B14F-4D97-AF65-F5344CB8AC3E}">
        <p14:creationId xmlns:p14="http://schemas.microsoft.com/office/powerpoint/2010/main" val="2787932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5</a:t>
            </a:fld>
            <a:endParaRPr lang="en-US"/>
          </a:p>
        </p:txBody>
      </p:sp>
    </p:spTree>
    <p:extLst>
      <p:ext uri="{BB962C8B-B14F-4D97-AF65-F5344CB8AC3E}">
        <p14:creationId xmlns:p14="http://schemas.microsoft.com/office/powerpoint/2010/main" val="3546996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6</a:t>
            </a:fld>
            <a:endParaRPr lang="en-US"/>
          </a:p>
        </p:txBody>
      </p:sp>
    </p:spTree>
    <p:extLst>
      <p:ext uri="{BB962C8B-B14F-4D97-AF65-F5344CB8AC3E}">
        <p14:creationId xmlns:p14="http://schemas.microsoft.com/office/powerpoint/2010/main" val="313852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7</a:t>
            </a:fld>
            <a:endParaRPr lang="en-US"/>
          </a:p>
        </p:txBody>
      </p:sp>
    </p:spTree>
    <p:extLst>
      <p:ext uri="{BB962C8B-B14F-4D97-AF65-F5344CB8AC3E}">
        <p14:creationId xmlns:p14="http://schemas.microsoft.com/office/powerpoint/2010/main" val="2160113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8</a:t>
            </a:fld>
            <a:endParaRPr lang="en-US"/>
          </a:p>
        </p:txBody>
      </p:sp>
    </p:spTree>
    <p:extLst>
      <p:ext uri="{BB962C8B-B14F-4D97-AF65-F5344CB8AC3E}">
        <p14:creationId xmlns:p14="http://schemas.microsoft.com/office/powerpoint/2010/main" val="3459412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9</a:t>
            </a:fld>
            <a:endParaRPr lang="en-US"/>
          </a:p>
        </p:txBody>
      </p:sp>
    </p:spTree>
    <p:extLst>
      <p:ext uri="{BB962C8B-B14F-4D97-AF65-F5344CB8AC3E}">
        <p14:creationId xmlns:p14="http://schemas.microsoft.com/office/powerpoint/2010/main" val="1861670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10</a:t>
            </a:fld>
            <a:endParaRPr lang="en-US"/>
          </a:p>
        </p:txBody>
      </p:sp>
    </p:spTree>
    <p:extLst>
      <p:ext uri="{BB962C8B-B14F-4D97-AF65-F5344CB8AC3E}">
        <p14:creationId xmlns:p14="http://schemas.microsoft.com/office/powerpoint/2010/main" val="3390506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11</a:t>
            </a:fld>
            <a:endParaRPr lang="en-US"/>
          </a:p>
        </p:txBody>
      </p:sp>
    </p:spTree>
    <p:extLst>
      <p:ext uri="{BB962C8B-B14F-4D97-AF65-F5344CB8AC3E}">
        <p14:creationId xmlns:p14="http://schemas.microsoft.com/office/powerpoint/2010/main" val="939040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12</a:t>
            </a:fld>
            <a:endParaRPr lang="en-US"/>
          </a:p>
        </p:txBody>
      </p:sp>
    </p:spTree>
    <p:extLst>
      <p:ext uri="{BB962C8B-B14F-4D97-AF65-F5344CB8AC3E}">
        <p14:creationId xmlns:p14="http://schemas.microsoft.com/office/powerpoint/2010/main" val="4176886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13</a:t>
            </a:fld>
            <a:endParaRPr lang="en-US"/>
          </a:p>
        </p:txBody>
      </p:sp>
    </p:spTree>
    <p:extLst>
      <p:ext uri="{BB962C8B-B14F-4D97-AF65-F5344CB8AC3E}">
        <p14:creationId xmlns:p14="http://schemas.microsoft.com/office/powerpoint/2010/main" val="76620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14</a:t>
            </a:fld>
            <a:endParaRPr lang="en-US"/>
          </a:p>
        </p:txBody>
      </p:sp>
    </p:spTree>
    <p:extLst>
      <p:ext uri="{BB962C8B-B14F-4D97-AF65-F5344CB8AC3E}">
        <p14:creationId xmlns:p14="http://schemas.microsoft.com/office/powerpoint/2010/main" val="3261794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15</a:t>
            </a:fld>
            <a:endParaRPr lang="en-US"/>
          </a:p>
        </p:txBody>
      </p:sp>
    </p:spTree>
    <p:extLst>
      <p:ext uri="{BB962C8B-B14F-4D97-AF65-F5344CB8AC3E}">
        <p14:creationId xmlns:p14="http://schemas.microsoft.com/office/powerpoint/2010/main" val="190876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custDataLst>
              <p:tags r:id="rId1"/>
            </p:custDataLst>
          </p:nvPr>
        </p:nvSpPr>
        <p:spPr/>
        <p:txBody>
          <a:bodyPr/>
          <a:lstStyle/>
          <a:p>
            <a:r>
              <a:rPr lang="tr-TR"/>
              <a:t>TASNİF DIŞI</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144FF-FCDC-4A40-8749-EDA78C643E64}" type="slidenum">
              <a:rPr lang="en-US" smtClean="0"/>
              <a:t>16</a:t>
            </a:fld>
            <a:endParaRPr lang="en-US"/>
          </a:p>
        </p:txBody>
      </p:sp>
    </p:spTree>
    <p:extLst>
      <p:ext uri="{BB962C8B-B14F-4D97-AF65-F5344CB8AC3E}">
        <p14:creationId xmlns:p14="http://schemas.microsoft.com/office/powerpoint/2010/main" val="264108484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851861" y="266533"/>
            <a:ext cx="880120" cy="658616"/>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444" y="0"/>
            <a:ext cx="9143111" cy="5143499"/>
          </a:xfrm>
          <a:prstGeom prst="rect">
            <a:avLst/>
          </a:prstGeom>
          <a:blipFill>
            <a:blip r:embed="rId3" cstate="print"/>
            <a:stretch>
              <a:fillRect/>
            </a:stretch>
          </a:blipFill>
        </p:spPr>
        <p:txBody>
          <a:bodyPr wrap="square" lIns="0" tIns="0" rIns="0" bIns="0" rtlCol="0"/>
          <a:lstStyle/>
          <a:p>
            <a:endParaRPr/>
          </a:p>
        </p:txBody>
      </p:sp>
      <p:sp>
        <p:nvSpPr>
          <p:cNvPr id="18" name="bg object 18"/>
          <p:cNvSpPr/>
          <p:nvPr/>
        </p:nvSpPr>
        <p:spPr>
          <a:xfrm>
            <a:off x="1789175" y="719327"/>
            <a:ext cx="5785104" cy="1231392"/>
          </a:xfrm>
          <a:prstGeom prst="rect">
            <a:avLst/>
          </a:prstGeom>
          <a:blipFill>
            <a:blip r:embed="rId4" cstate="print"/>
            <a:stretch>
              <a:fillRect/>
            </a:stretch>
          </a:blipFill>
        </p:spPr>
        <p:txBody>
          <a:bodyPr wrap="square" lIns="0" tIns="0" rIns="0" bIns="0" rtlCol="0"/>
          <a:lstStyle/>
          <a:p>
            <a:endParaRPr/>
          </a:p>
        </p:txBody>
      </p:sp>
      <p:sp>
        <p:nvSpPr>
          <p:cNvPr id="19" name="bg object 19"/>
          <p:cNvSpPr/>
          <p:nvPr/>
        </p:nvSpPr>
        <p:spPr>
          <a:xfrm>
            <a:off x="163068" y="1389888"/>
            <a:ext cx="8980932" cy="1231392"/>
          </a:xfrm>
          <a:prstGeom prst="rect">
            <a:avLst/>
          </a:prstGeom>
          <a:blipFill>
            <a:blip r:embed="rId5" cstate="print"/>
            <a:stretch>
              <a:fillRect/>
            </a:stretch>
          </a:blipFill>
        </p:spPr>
        <p:txBody>
          <a:bodyPr wrap="square" lIns="0" tIns="0" rIns="0" bIns="0" rtlCol="0"/>
          <a:lstStyle/>
          <a:p>
            <a:endParaRPr/>
          </a:p>
        </p:txBody>
      </p:sp>
      <p:sp>
        <p:nvSpPr>
          <p:cNvPr id="20" name="bg object 20"/>
          <p:cNvSpPr/>
          <p:nvPr/>
        </p:nvSpPr>
        <p:spPr>
          <a:xfrm>
            <a:off x="220980" y="2060448"/>
            <a:ext cx="1970532" cy="1231391"/>
          </a:xfrm>
          <a:prstGeom prst="rect">
            <a:avLst/>
          </a:prstGeom>
          <a:blipFill>
            <a:blip r:embed="rId6" cstate="print"/>
            <a:stretch>
              <a:fillRect/>
            </a:stretch>
          </a:blipFill>
        </p:spPr>
        <p:txBody>
          <a:bodyPr wrap="square" lIns="0" tIns="0" rIns="0" bIns="0" rtlCol="0"/>
          <a:lstStyle/>
          <a:p>
            <a:endParaRPr/>
          </a:p>
        </p:txBody>
      </p:sp>
      <p:sp>
        <p:nvSpPr>
          <p:cNvPr id="21" name="bg object 21"/>
          <p:cNvSpPr/>
          <p:nvPr/>
        </p:nvSpPr>
        <p:spPr>
          <a:xfrm>
            <a:off x="1463040" y="2060448"/>
            <a:ext cx="7677911" cy="1231391"/>
          </a:xfrm>
          <a:prstGeom prst="rect">
            <a:avLst/>
          </a:prstGeom>
          <a:blipFill>
            <a:blip r:embed="rId7" cstate="print"/>
            <a:stretch>
              <a:fillRect/>
            </a:stretch>
          </a:blipFill>
        </p:spPr>
        <p:txBody>
          <a:bodyPr wrap="square" lIns="0" tIns="0" rIns="0" bIns="0" rtlCol="0"/>
          <a:lstStyle/>
          <a:p>
            <a:endParaRPr/>
          </a:p>
        </p:txBody>
      </p:sp>
      <p:sp>
        <p:nvSpPr>
          <p:cNvPr id="22" name="bg object 22"/>
          <p:cNvSpPr/>
          <p:nvPr/>
        </p:nvSpPr>
        <p:spPr>
          <a:xfrm>
            <a:off x="1431036" y="2731007"/>
            <a:ext cx="6502908" cy="1231391"/>
          </a:xfrm>
          <a:prstGeom prst="rect">
            <a:avLst/>
          </a:prstGeom>
          <a:blipFill>
            <a:blip r:embed="rId8" cstate="print"/>
            <a:stretch>
              <a:fillRect/>
            </a:stretch>
          </a:blipFill>
        </p:spPr>
        <p:txBody>
          <a:bodyPr wrap="square" lIns="0" tIns="0" rIns="0" bIns="0" rtlCol="0"/>
          <a:lstStyle/>
          <a:p>
            <a:endParaRPr/>
          </a:p>
        </p:txBody>
      </p:sp>
      <p:sp>
        <p:nvSpPr>
          <p:cNvPr id="23" name="bg object 23"/>
          <p:cNvSpPr/>
          <p:nvPr/>
        </p:nvSpPr>
        <p:spPr>
          <a:xfrm>
            <a:off x="801623" y="3401567"/>
            <a:ext cx="7577328" cy="1231392"/>
          </a:xfrm>
          <a:prstGeom prst="rect">
            <a:avLst/>
          </a:prstGeom>
          <a:blipFill>
            <a:blip r:embed="rId9" cstate="print"/>
            <a:stretch>
              <a:fillRect/>
            </a:stretch>
          </a:blipFill>
        </p:spPr>
        <p:txBody>
          <a:bodyPr wrap="square" lIns="0" tIns="0" rIns="0" bIns="0" rtlCol="0"/>
          <a:lstStyle/>
          <a:p>
            <a:endParaRPr/>
          </a:p>
        </p:txBody>
      </p:sp>
      <p:sp>
        <p:nvSpPr>
          <p:cNvPr id="2" name="Holder 2"/>
          <p:cNvSpPr>
            <a:spLocks noGrp="1"/>
          </p:cNvSpPr>
          <p:nvPr>
            <p:ph type="ctrTitle"/>
          </p:nvPr>
        </p:nvSpPr>
        <p:spPr>
          <a:xfrm>
            <a:off x="496316" y="856945"/>
            <a:ext cx="8154670" cy="2038350"/>
          </a:xfrm>
          <a:prstGeom prst="rect">
            <a:avLst/>
          </a:prstGeom>
        </p:spPr>
        <p:txBody>
          <a:bodyPr wrap="square" lIns="0" tIns="0" rIns="0" bIns="0">
            <a:spAutoFit/>
          </a:bodyPr>
          <a:lstStyle>
            <a:lvl1pPr>
              <a:defRPr sz="4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134872" y="2869133"/>
            <a:ext cx="6870065" cy="1367789"/>
          </a:xfrm>
          <a:prstGeom prst="rect">
            <a:avLst/>
          </a:prstGeom>
        </p:spPr>
        <p:txBody>
          <a:bodyPr wrap="square" lIns="0" tIns="0" rIns="0" bIns="0">
            <a:spAutoFit/>
          </a:bodyPr>
          <a:lstStyle>
            <a:lvl1pPr>
              <a:defRPr sz="4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4" y="0"/>
            <a:ext cx="9143111" cy="1391124"/>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7834375" y="254876"/>
            <a:ext cx="967549" cy="705243"/>
          </a:xfrm>
          <a:prstGeom prst="rect">
            <a:avLst/>
          </a:prstGeom>
          <a:blipFill>
            <a:blip r:embed="rId3"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Verdana"/>
                <a:cs typeface="Verdan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851861" y="266533"/>
            <a:ext cx="880120" cy="658616"/>
          </a:xfrm>
          <a:prstGeom prst="rect">
            <a:avLst/>
          </a:prstGeom>
          <a:blipFill>
            <a:blip r:embed="rId7" cstate="print"/>
            <a:stretch>
              <a:fillRect/>
            </a:stretch>
          </a:blipFill>
        </p:spPr>
        <p:txBody>
          <a:bodyPr wrap="square" lIns="0" tIns="0" rIns="0" bIns="0" rtlCol="0"/>
          <a:lstStyle/>
          <a:p>
            <a:endParaRPr/>
          </a:p>
        </p:txBody>
      </p:sp>
      <p:sp>
        <p:nvSpPr>
          <p:cNvPr id="17" name="bg object 17"/>
          <p:cNvSpPr/>
          <p:nvPr/>
        </p:nvSpPr>
        <p:spPr>
          <a:xfrm>
            <a:off x="444" y="0"/>
            <a:ext cx="9143111" cy="514349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499998" y="1192530"/>
            <a:ext cx="8144002" cy="2708910"/>
          </a:xfrm>
          <a:prstGeom prst="rect">
            <a:avLst/>
          </a:prstGeom>
        </p:spPr>
        <p:txBody>
          <a:bodyPr wrap="square" lIns="0" tIns="0" rIns="0" bIns="0">
            <a:spAutoFit/>
          </a:bodyPr>
          <a:lstStyle>
            <a:lvl1pPr>
              <a:defRPr sz="4400" b="0" i="0">
                <a:solidFill>
                  <a:schemeClr val="tx1"/>
                </a:solidFill>
                <a:latin typeface="Verdana"/>
                <a:cs typeface="Verdana"/>
              </a:defRPr>
            </a:lvl1pPr>
          </a:lstStyle>
          <a:p>
            <a:endParaRPr/>
          </a:p>
        </p:txBody>
      </p:sp>
      <p:sp>
        <p:nvSpPr>
          <p:cNvPr id="3" name="Holder 3"/>
          <p:cNvSpPr>
            <a:spLocks noGrp="1"/>
          </p:cNvSpPr>
          <p:nvPr>
            <p:ph type="body" idx="1"/>
          </p:nvPr>
        </p:nvSpPr>
        <p:spPr>
          <a:xfrm>
            <a:off x="818489" y="1066698"/>
            <a:ext cx="7507020" cy="33185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
        <p:nvSpPr>
          <p:cNvPr id="6" name="Metin kutusu 5"/>
          <p:cNvSpPr txBox="1"/>
          <p:nvPr/>
        </p:nvSpPr>
        <p:spPr>
          <a:xfrm>
            <a:off x="1447800" y="1047750"/>
            <a:ext cx="6172200" cy="4031873"/>
          </a:xfrm>
          <a:prstGeom prst="rect">
            <a:avLst/>
          </a:prstGeom>
          <a:noFill/>
        </p:spPr>
        <p:txBody>
          <a:bodyPr wrap="square" rtlCol="0">
            <a:spAutoFit/>
          </a:bodyPr>
          <a:lstStyle/>
          <a:p>
            <a:pPr algn="ctr"/>
            <a:r>
              <a:rPr lang="tr-TR" sz="3200" dirty="0">
                <a:latin typeface="Times New Roman" panose="02020603050405020304" pitchFamily="18" charset="0"/>
                <a:cs typeface="Times New Roman" panose="02020603050405020304" pitchFamily="18" charset="0"/>
              </a:rPr>
              <a:t>TEKNOFEST</a:t>
            </a:r>
          </a:p>
          <a:p>
            <a:pPr algn="ctr"/>
            <a:endParaRPr lang="tr-TR" sz="2800" dirty="0">
              <a:latin typeface="Times New Roman" panose="02020603050405020304" pitchFamily="18" charset="0"/>
              <a:cs typeface="Times New Roman" panose="02020603050405020304" pitchFamily="18" charset="0"/>
            </a:endParaRPr>
          </a:p>
          <a:p>
            <a:pPr algn="ctr"/>
            <a:r>
              <a:rPr lang="tr-TR" sz="2400" dirty="0">
                <a:latin typeface="Times New Roman" panose="02020603050405020304" pitchFamily="18" charset="0"/>
                <a:cs typeface="Times New Roman" panose="02020603050405020304" pitchFamily="18" charset="0"/>
              </a:rPr>
              <a:t>HELİKOPTER </a:t>
            </a:r>
          </a:p>
          <a:p>
            <a:pPr algn="ctr"/>
            <a:r>
              <a:rPr lang="tr-TR" sz="2400" dirty="0">
                <a:latin typeface="Times New Roman" panose="02020603050405020304" pitchFamily="18" charset="0"/>
                <a:cs typeface="Times New Roman" panose="02020603050405020304" pitchFamily="18" charset="0"/>
              </a:rPr>
              <a:t>TASARIM YARIŞMASI</a:t>
            </a:r>
          </a:p>
          <a:p>
            <a:pPr algn="ctr"/>
            <a:r>
              <a:rPr lang="tr-TR" sz="2400" dirty="0">
                <a:latin typeface="Times New Roman" panose="02020603050405020304" pitchFamily="18" charset="0"/>
                <a:cs typeface="Times New Roman" panose="02020603050405020304" pitchFamily="18" charset="0"/>
              </a:rPr>
              <a:t>202</a:t>
            </a:r>
            <a:r>
              <a:rPr lang="en-US" sz="2400" dirty="0">
                <a:latin typeface="Times New Roman" panose="02020603050405020304" pitchFamily="18" charset="0"/>
                <a:cs typeface="Times New Roman" panose="02020603050405020304" pitchFamily="18" charset="0"/>
              </a:rPr>
              <a:t>5</a:t>
            </a:r>
            <a:endParaRPr lang="tr-TR" sz="2400" dirty="0">
              <a:latin typeface="Times New Roman" panose="02020603050405020304" pitchFamily="18" charset="0"/>
              <a:cs typeface="Times New Roman" panose="02020603050405020304" pitchFamily="18" charset="0"/>
            </a:endParaRPr>
          </a:p>
          <a:p>
            <a:pPr algn="ctr"/>
            <a:r>
              <a:rPr lang="tr-TR" sz="2800" dirty="0">
                <a:latin typeface="Times New Roman" panose="02020603050405020304" pitchFamily="18" charset="0"/>
                <a:cs typeface="Times New Roman" panose="02020603050405020304" pitchFamily="18" charset="0"/>
              </a:rPr>
              <a:t> </a:t>
            </a:r>
          </a:p>
          <a:p>
            <a:pPr algn="ctr"/>
            <a:r>
              <a:rPr lang="tr-TR" sz="2000" dirty="0">
                <a:latin typeface="Times New Roman" panose="02020603050405020304" pitchFamily="18" charset="0"/>
                <a:cs typeface="Times New Roman" panose="02020603050405020304" pitchFamily="18" charset="0"/>
              </a:rPr>
              <a:t>FİNAL SUNUMU</a:t>
            </a:r>
          </a:p>
          <a:p>
            <a:pPr algn="ctr"/>
            <a:endParaRPr lang="tr-TR" dirty="0">
              <a:latin typeface="Times New Roman" panose="02020603050405020304" pitchFamily="18" charset="0"/>
              <a:cs typeface="Times New Roman" panose="02020603050405020304" pitchFamily="18" charset="0"/>
            </a:endParaRPr>
          </a:p>
          <a:p>
            <a:pPr algn="ctr"/>
            <a:r>
              <a:rPr lang="tr-TR" dirty="0">
                <a:latin typeface="Times New Roman" panose="02020603050405020304" pitchFamily="18" charset="0"/>
                <a:cs typeface="Times New Roman" panose="02020603050405020304" pitchFamily="18" charset="0"/>
              </a:rPr>
              <a:t>TAKIM ADI</a:t>
            </a:r>
          </a:p>
          <a:p>
            <a:pPr algn="ctr"/>
            <a:endParaRPr lang="tr-TR" sz="1400" dirty="0">
              <a:latin typeface="Times New Roman" panose="02020603050405020304" pitchFamily="18" charset="0"/>
              <a:cs typeface="Times New Roman" panose="02020603050405020304" pitchFamily="18" charset="0"/>
            </a:endParaRPr>
          </a:p>
          <a:p>
            <a:pPr algn="ctr"/>
            <a:endParaRPr lang="tr-TR" dirty="0"/>
          </a:p>
        </p:txBody>
      </p:sp>
    </p:spTree>
    <p:extLst>
      <p:ext uri="{BB962C8B-B14F-4D97-AF65-F5344CB8AC3E}">
        <p14:creationId xmlns:p14="http://schemas.microsoft.com/office/powerpoint/2010/main" val="1201098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1676400" y="438150"/>
            <a:ext cx="6019800" cy="523220"/>
          </a:xfrm>
          <a:prstGeom prst="rect">
            <a:avLst/>
          </a:prstGeom>
          <a:noFill/>
        </p:spPr>
        <p:txBody>
          <a:bodyPr wrap="square" rtlCol="0">
            <a:spAutoFit/>
          </a:bodyPr>
          <a:lstStyle/>
          <a:p>
            <a:pPr algn="ctr"/>
            <a:r>
              <a:rPr lang="tr-TR" sz="2800" dirty="0">
                <a:latin typeface="Times New Roman" panose="02020603050405020304" pitchFamily="18" charset="0"/>
                <a:cs typeface="Times New Roman" panose="02020603050405020304" pitchFamily="18" charset="0"/>
              </a:rPr>
              <a:t>TAKIM ŞEMASI</a:t>
            </a:r>
          </a:p>
        </p:txBody>
      </p:sp>
      <p:sp>
        <p:nvSpPr>
          <p:cNvPr id="8" name="Metin kutusu 7"/>
          <p:cNvSpPr txBox="1"/>
          <p:nvPr/>
        </p:nvSpPr>
        <p:spPr>
          <a:xfrm>
            <a:off x="647700" y="1733550"/>
            <a:ext cx="8077200" cy="1815882"/>
          </a:xfrm>
          <a:prstGeom prst="rect">
            <a:avLst/>
          </a:prstGeom>
          <a:noFill/>
        </p:spPr>
        <p:txBody>
          <a:bodyPr wrap="square" rtlCol="0">
            <a:spAutoFit/>
          </a:bodyPr>
          <a:lstStyle/>
          <a:p>
            <a:r>
              <a:rPr lang="tr-TR" sz="1600" dirty="0">
                <a:latin typeface="Times New Roman" panose="02020603050405020304" pitchFamily="18" charset="0"/>
                <a:cs typeface="Times New Roman" panose="02020603050405020304" pitchFamily="18" charset="0"/>
              </a:rPr>
              <a:t>Takım üyelerini, çalışma gruplarını ve üyelerin görevlerini açık bir şekilde ağaç yapıları kullanarak </a:t>
            </a:r>
            <a:r>
              <a:rPr lang="en-GB" sz="1600" dirty="0" err="1">
                <a:latin typeface="Times New Roman" panose="02020603050405020304" pitchFamily="18" charset="0"/>
                <a:cs typeface="Times New Roman" panose="02020603050405020304" pitchFamily="18" charset="0"/>
              </a:rPr>
              <a:t>yazınız</a:t>
            </a:r>
            <a:r>
              <a:rPr lang="tr-TR" sz="1600" dirty="0">
                <a:latin typeface="Times New Roman" panose="02020603050405020304" pitchFamily="18" charset="0"/>
                <a:cs typeface="Times New Roman" panose="02020603050405020304" pitchFamily="18" charset="0"/>
              </a:rPr>
              <a:t>. </a:t>
            </a:r>
          </a:p>
          <a:p>
            <a:endParaRPr lang="tr-TR" sz="1600" dirty="0">
              <a:latin typeface="Times New Roman" panose="02020603050405020304" pitchFamily="18" charset="0"/>
              <a:cs typeface="Times New Roman" panose="02020603050405020304" pitchFamily="18" charset="0"/>
            </a:endParaRPr>
          </a:p>
          <a:p>
            <a:r>
              <a:rPr lang="tr-TR" sz="1600" dirty="0">
                <a:latin typeface="Times New Roman" panose="02020603050405020304" pitchFamily="18" charset="0"/>
                <a:cs typeface="Times New Roman" panose="02020603050405020304" pitchFamily="18" charset="0"/>
              </a:rPr>
              <a:t>Üyelerin, bölümleri ve sınıfları istenildiği gibi uygun şekilde belirtilmelidir. </a:t>
            </a:r>
          </a:p>
          <a:p>
            <a:endParaRPr lang="tr-TR" sz="1600" dirty="0">
              <a:latin typeface="Times New Roman" panose="02020603050405020304" pitchFamily="18" charset="0"/>
              <a:cs typeface="Times New Roman" panose="02020603050405020304" pitchFamily="18" charset="0"/>
            </a:endParaRPr>
          </a:p>
          <a:p>
            <a:r>
              <a:rPr lang="tr-TR" sz="1600" dirty="0">
                <a:latin typeface="Times New Roman" panose="02020603050405020304" pitchFamily="18" charset="0"/>
                <a:cs typeface="Times New Roman" panose="02020603050405020304" pitchFamily="18" charset="0"/>
              </a:rPr>
              <a:t>Şemanızı ne kadar görsellerle destekleyip estetik hale getirirseniz o kadar yüksek puan alabilirsiniz.</a:t>
            </a:r>
          </a:p>
        </p:txBody>
      </p:sp>
      <p:pic>
        <p:nvPicPr>
          <p:cNvPr id="9" name="Resi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1676400" y="438150"/>
            <a:ext cx="6019800" cy="523220"/>
          </a:xfrm>
          <a:prstGeom prst="rect">
            <a:avLst/>
          </a:prstGeom>
          <a:noFill/>
        </p:spPr>
        <p:txBody>
          <a:bodyPr wrap="square" rtlCol="0">
            <a:spAutoFit/>
          </a:bodyPr>
          <a:lstStyle/>
          <a:p>
            <a:pPr algn="ctr"/>
            <a:r>
              <a:rPr lang="tr-TR" sz="2800" dirty="0">
                <a:latin typeface="Times New Roman" panose="02020603050405020304" pitchFamily="18" charset="0"/>
                <a:cs typeface="Times New Roman" panose="02020603050405020304" pitchFamily="18" charset="0"/>
              </a:rPr>
              <a:t>ARAÇ TEMEL ÖZELLİKLERİ</a:t>
            </a:r>
          </a:p>
        </p:txBody>
      </p:sp>
      <p:pic>
        <p:nvPicPr>
          <p:cNvPr id="9" name="Resi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graphicFrame>
        <p:nvGraphicFramePr>
          <p:cNvPr id="2" name="Tablo 1"/>
          <p:cNvGraphicFramePr>
            <a:graphicFrameLocks noGrp="1"/>
          </p:cNvGraphicFramePr>
          <p:nvPr>
            <p:extLst>
              <p:ext uri="{D42A27DB-BD31-4B8C-83A1-F6EECF244321}">
                <p14:modId xmlns:p14="http://schemas.microsoft.com/office/powerpoint/2010/main" val="3332302023"/>
              </p:ext>
            </p:extLst>
          </p:nvPr>
        </p:nvGraphicFramePr>
        <p:xfrm>
          <a:off x="1066800" y="1428529"/>
          <a:ext cx="3200400" cy="2778068"/>
        </p:xfrm>
        <a:graphic>
          <a:graphicData uri="http://schemas.openxmlformats.org/drawingml/2006/table">
            <a:tbl>
              <a:tblPr firstRow="1" bandRow="1">
                <a:tableStyleId>{073A0DAA-6AF3-43AB-8588-CEC1D06C72B9}</a:tableStyleId>
              </a:tblPr>
              <a:tblGrid>
                <a:gridCol w="2362200">
                  <a:extLst>
                    <a:ext uri="{9D8B030D-6E8A-4147-A177-3AD203B41FA5}">
                      <a16:colId xmlns:a16="http://schemas.microsoft.com/office/drawing/2014/main" val="1987981942"/>
                    </a:ext>
                  </a:extLst>
                </a:gridCol>
                <a:gridCol w="838200">
                  <a:extLst>
                    <a:ext uri="{9D8B030D-6E8A-4147-A177-3AD203B41FA5}">
                      <a16:colId xmlns:a16="http://schemas.microsoft.com/office/drawing/2014/main" val="3381570596"/>
                    </a:ext>
                  </a:extLst>
                </a:gridCol>
              </a:tblGrid>
              <a:tr h="217748">
                <a:tc>
                  <a:txBody>
                    <a:bodyPr/>
                    <a:lstStyle/>
                    <a:p>
                      <a:pPr algn="l"/>
                      <a:r>
                        <a:rPr lang="tr-TR" sz="1050" b="0" dirty="0">
                          <a:solidFill>
                            <a:schemeClr val="tx1"/>
                          </a:solidFill>
                        </a:rPr>
                        <a:t>Toplam Kalkış Ağırlığı</a:t>
                      </a:r>
                      <a:r>
                        <a:rPr lang="en-GB" sz="1050" b="0" dirty="0">
                          <a:solidFill>
                            <a:schemeClr val="tx1"/>
                          </a:solidFill>
                        </a:rPr>
                        <a:t> (kg)</a:t>
                      </a:r>
                      <a:endParaRPr lang="tr-TR" sz="1050" b="0" dirty="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3690755"/>
                  </a:ext>
                </a:extLst>
              </a:tr>
              <a:tr h="207818">
                <a:tc>
                  <a:txBody>
                    <a:bodyPr/>
                    <a:lstStyle/>
                    <a:p>
                      <a:pPr algn="l"/>
                      <a:r>
                        <a:rPr lang="en-GB" sz="1050" dirty="0" err="1"/>
                        <a:t>Boş</a:t>
                      </a:r>
                      <a:r>
                        <a:rPr lang="en-GB" sz="1050" baseline="0" dirty="0"/>
                        <a:t> </a:t>
                      </a:r>
                      <a:r>
                        <a:rPr lang="en-GB" sz="1050" baseline="0" dirty="0" err="1"/>
                        <a:t>Ağırlık</a:t>
                      </a:r>
                      <a:r>
                        <a:rPr lang="en-GB" sz="1050" baseline="0" dirty="0"/>
                        <a:t> (kg)</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1044851"/>
                  </a:ext>
                </a:extLst>
              </a:tr>
              <a:tr h="207818">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GB" sz="1050" b="0" i="0" dirty="0" err="1">
                          <a:solidFill>
                            <a:schemeClr val="dk1"/>
                          </a:solidFill>
                          <a:effectLst/>
                          <a:latin typeface="+mn-lt"/>
                          <a:ea typeface="+mn-ea"/>
                          <a:cs typeface="+mn-cs"/>
                        </a:rPr>
                        <a:t>Yakıt</a:t>
                      </a:r>
                      <a:r>
                        <a:rPr lang="en-GB" sz="1050" b="0" i="0" baseline="0" dirty="0">
                          <a:solidFill>
                            <a:schemeClr val="dk1"/>
                          </a:solidFill>
                          <a:effectLst/>
                          <a:latin typeface="+mn-lt"/>
                          <a:ea typeface="+mn-ea"/>
                          <a:cs typeface="+mn-cs"/>
                        </a:rPr>
                        <a:t> </a:t>
                      </a:r>
                      <a:r>
                        <a:rPr lang="en-GB" sz="1050" b="0" i="0" baseline="0" dirty="0" err="1">
                          <a:solidFill>
                            <a:schemeClr val="dk1"/>
                          </a:solidFill>
                          <a:effectLst/>
                          <a:latin typeface="+mn-lt"/>
                          <a:ea typeface="+mn-ea"/>
                          <a:cs typeface="+mn-cs"/>
                        </a:rPr>
                        <a:t>Ağırlığı</a:t>
                      </a:r>
                      <a:r>
                        <a:rPr lang="en-GB" sz="1050" b="0" i="0" baseline="0" dirty="0">
                          <a:solidFill>
                            <a:schemeClr val="dk1"/>
                          </a:solidFill>
                          <a:effectLst/>
                          <a:latin typeface="+mn-lt"/>
                          <a:ea typeface="+mn-ea"/>
                          <a:cs typeface="+mn-cs"/>
                        </a:rPr>
                        <a:t> (kg)</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742267"/>
                  </a:ext>
                </a:extLst>
              </a:tr>
              <a:tr h="207818">
                <a:tc>
                  <a:txBody>
                    <a:bodyPr/>
                    <a:lstStyle/>
                    <a:p>
                      <a:pPr algn="l"/>
                      <a:r>
                        <a:rPr lang="tr-TR" sz="1050" b="0" i="0" dirty="0">
                          <a:solidFill>
                            <a:schemeClr val="dk1"/>
                          </a:solidFill>
                          <a:effectLst/>
                          <a:latin typeface="+mn-lt"/>
                          <a:ea typeface="+mn-ea"/>
                          <a:cs typeface="+mn-cs"/>
                        </a:rPr>
                        <a:t>Paralı Yük Ağırlığı</a:t>
                      </a:r>
                      <a:r>
                        <a:rPr lang="en-GB" sz="1050" b="0" i="0" dirty="0">
                          <a:solidFill>
                            <a:schemeClr val="dk1"/>
                          </a:solidFill>
                          <a:effectLst/>
                          <a:latin typeface="+mn-lt"/>
                          <a:ea typeface="+mn-ea"/>
                          <a:cs typeface="+mn-cs"/>
                        </a:rPr>
                        <a:t> (kg)</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1239541"/>
                  </a:ext>
                </a:extLst>
              </a:tr>
              <a:tr h="207818">
                <a:tc>
                  <a:txBody>
                    <a:bodyPr/>
                    <a:lstStyle/>
                    <a:p>
                      <a:pPr algn="l"/>
                      <a:r>
                        <a:rPr lang="en-GB" sz="1050" dirty="0"/>
                        <a:t>Rotor </a:t>
                      </a:r>
                      <a:r>
                        <a:rPr lang="en-GB" sz="1050" dirty="0" err="1"/>
                        <a:t>Yarıçapı</a:t>
                      </a:r>
                      <a:r>
                        <a:rPr lang="en-GB" sz="1050" dirty="0"/>
                        <a:t> (m)</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6625053"/>
                  </a:ext>
                </a:extLst>
              </a:tr>
              <a:tr h="207818">
                <a:tc>
                  <a:txBody>
                    <a:bodyPr/>
                    <a:lstStyle/>
                    <a:p>
                      <a:pPr algn="l"/>
                      <a:r>
                        <a:rPr lang="tr-TR" sz="1050" b="0" i="0" dirty="0">
                          <a:solidFill>
                            <a:schemeClr val="dk1"/>
                          </a:solidFill>
                          <a:effectLst/>
                          <a:latin typeface="+mn-lt"/>
                          <a:ea typeface="+mn-ea"/>
                          <a:cs typeface="+mn-cs"/>
                        </a:rPr>
                        <a:t>En-Boy-Yükseklik değerleri</a:t>
                      </a:r>
                      <a:r>
                        <a:rPr lang="en-GB" sz="1050" b="0" i="0" dirty="0">
                          <a:solidFill>
                            <a:schemeClr val="dk1"/>
                          </a:solidFill>
                          <a:effectLst/>
                          <a:latin typeface="+mn-lt"/>
                          <a:ea typeface="+mn-ea"/>
                          <a:cs typeface="+mn-cs"/>
                        </a:rPr>
                        <a:t> (m)</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1696159"/>
                  </a:ext>
                </a:extLst>
              </a:tr>
              <a:tr h="207818">
                <a:tc>
                  <a:txBody>
                    <a:bodyPr/>
                    <a:lstStyle/>
                    <a:p>
                      <a:pPr algn="l"/>
                      <a:r>
                        <a:rPr lang="tr-TR" sz="1050" b="0" i="0" dirty="0">
                          <a:solidFill>
                            <a:schemeClr val="dk1"/>
                          </a:solidFill>
                          <a:effectLst/>
                          <a:latin typeface="+mn-lt"/>
                          <a:ea typeface="+mn-ea"/>
                          <a:cs typeface="+mn-cs"/>
                        </a:rPr>
                        <a:t>Maksimum Hızı</a:t>
                      </a:r>
                      <a:r>
                        <a:rPr lang="en-GB" sz="1050" b="0" i="0" dirty="0">
                          <a:solidFill>
                            <a:schemeClr val="dk1"/>
                          </a:solidFill>
                          <a:effectLst/>
                          <a:latin typeface="+mn-lt"/>
                          <a:ea typeface="+mn-ea"/>
                          <a:cs typeface="+mn-cs"/>
                        </a:rPr>
                        <a:t> (km/h)</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0914916"/>
                  </a:ext>
                </a:extLst>
              </a:tr>
              <a:tr h="207818">
                <a:tc>
                  <a:txBody>
                    <a:bodyPr/>
                    <a:lstStyle/>
                    <a:p>
                      <a:pPr algn="l"/>
                      <a:r>
                        <a:rPr lang="tr-TR" sz="1050" b="0" i="0" dirty="0">
                          <a:solidFill>
                            <a:schemeClr val="dk1"/>
                          </a:solidFill>
                          <a:effectLst/>
                          <a:latin typeface="+mn-lt"/>
                          <a:ea typeface="+mn-ea"/>
                          <a:cs typeface="+mn-cs"/>
                        </a:rPr>
                        <a:t>Askı Tavanı</a:t>
                      </a:r>
                      <a:r>
                        <a:rPr lang="en-GB" sz="1050" b="0" i="0" dirty="0">
                          <a:solidFill>
                            <a:schemeClr val="dk1"/>
                          </a:solidFill>
                          <a:effectLst/>
                          <a:latin typeface="+mn-lt"/>
                          <a:ea typeface="+mn-ea"/>
                          <a:cs typeface="+mn-cs"/>
                        </a:rPr>
                        <a:t> (m)</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4016110"/>
                  </a:ext>
                </a:extLst>
              </a:tr>
              <a:tr h="207818">
                <a:tc>
                  <a:txBody>
                    <a:bodyPr/>
                    <a:lstStyle/>
                    <a:p>
                      <a:pPr algn="l"/>
                      <a:r>
                        <a:rPr lang="tr-TR" sz="1050" b="0" i="0" dirty="0">
                          <a:solidFill>
                            <a:schemeClr val="dk1"/>
                          </a:solidFill>
                          <a:effectLst/>
                          <a:latin typeface="+mn-lt"/>
                          <a:ea typeface="+mn-ea"/>
                          <a:cs typeface="+mn-cs"/>
                        </a:rPr>
                        <a:t>Seyir Tavanı</a:t>
                      </a:r>
                      <a:r>
                        <a:rPr lang="en-GB" sz="1050" b="0" i="0" dirty="0">
                          <a:solidFill>
                            <a:schemeClr val="dk1"/>
                          </a:solidFill>
                          <a:effectLst/>
                          <a:latin typeface="+mn-lt"/>
                          <a:ea typeface="+mn-ea"/>
                          <a:cs typeface="+mn-cs"/>
                        </a:rPr>
                        <a:t> (m)</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8536628"/>
                  </a:ext>
                </a:extLst>
              </a:tr>
              <a:tr h="207818">
                <a:tc>
                  <a:txBody>
                    <a:bodyPr/>
                    <a:lstStyle/>
                    <a:p>
                      <a:pPr algn="l"/>
                      <a:r>
                        <a:rPr lang="en-GB" sz="1050" dirty="0" err="1"/>
                        <a:t>Maksimum</a:t>
                      </a:r>
                      <a:r>
                        <a:rPr lang="en-GB" sz="1050" dirty="0"/>
                        <a:t> </a:t>
                      </a:r>
                      <a:r>
                        <a:rPr lang="en-GB" sz="1050" dirty="0" err="1"/>
                        <a:t>Menzil</a:t>
                      </a:r>
                      <a:r>
                        <a:rPr lang="en-GB" sz="1050" dirty="0"/>
                        <a:t> </a:t>
                      </a:r>
                      <a:r>
                        <a:rPr lang="tr-TR" sz="1050" dirty="0"/>
                        <a:t>(km)</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8489756"/>
                  </a:ext>
                </a:extLst>
              </a:tr>
              <a:tr h="207818">
                <a:tc>
                  <a:txBody>
                    <a:bodyPr/>
                    <a:lstStyle/>
                    <a:p>
                      <a:r>
                        <a:rPr lang="en-GB" sz="1050" dirty="0" err="1"/>
                        <a:t>Havada</a:t>
                      </a:r>
                      <a:r>
                        <a:rPr lang="en-GB" sz="1050" baseline="0" dirty="0"/>
                        <a:t> </a:t>
                      </a:r>
                      <a:r>
                        <a:rPr lang="en-GB" sz="1050" baseline="0" dirty="0" err="1"/>
                        <a:t>Kalış</a:t>
                      </a:r>
                      <a:r>
                        <a:rPr lang="en-GB" sz="1050" baseline="0" dirty="0"/>
                        <a:t> </a:t>
                      </a:r>
                      <a:r>
                        <a:rPr lang="en-GB" sz="1050" baseline="0" dirty="0" err="1"/>
                        <a:t>Süresi</a:t>
                      </a:r>
                      <a:r>
                        <a:rPr lang="en-GB" sz="1050" baseline="0" dirty="0"/>
                        <a:t> (St</a:t>
                      </a:r>
                      <a:r>
                        <a:rPr lang="tr-TR" sz="1050" baseline="0" dirty="0"/>
                        <a:t>)</a:t>
                      </a:r>
                      <a:endParaRPr lang="en-US"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653479"/>
                  </a:ext>
                </a:extLst>
              </a:tr>
              <a:tr h="207818">
                <a:tc>
                  <a:txBody>
                    <a:bodyPr/>
                    <a:lstStyle/>
                    <a:p>
                      <a:pPr algn="l"/>
                      <a:r>
                        <a:rPr lang="tr-TR" sz="1050" b="0" i="0" dirty="0">
                          <a:solidFill>
                            <a:schemeClr val="dk1"/>
                          </a:solidFill>
                          <a:effectLst/>
                          <a:latin typeface="+mn-lt"/>
                          <a:ea typeface="+mn-ea"/>
                          <a:cs typeface="+mn-cs"/>
                        </a:rPr>
                        <a:t>Yerleşik Motor Adı, Adedi</a:t>
                      </a:r>
                      <a:r>
                        <a:rPr lang="en-GB" sz="1050" b="0" i="0" dirty="0">
                          <a:solidFill>
                            <a:schemeClr val="dk1"/>
                          </a:solidFill>
                          <a:effectLst/>
                          <a:latin typeface="+mn-lt"/>
                          <a:ea typeface="+mn-ea"/>
                          <a:cs typeface="+mn-cs"/>
                        </a:rPr>
                        <a:t> (#)</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5288431"/>
                  </a:ext>
                </a:extLst>
              </a:tr>
              <a:tr h="207818">
                <a:tc>
                  <a:txBody>
                    <a:bodyPr/>
                    <a:lstStyle/>
                    <a:p>
                      <a:pPr algn="l"/>
                      <a:r>
                        <a:rPr lang="tr-TR" sz="1050" b="0" i="0" dirty="0">
                          <a:solidFill>
                            <a:schemeClr val="dk1"/>
                          </a:solidFill>
                          <a:effectLst/>
                          <a:latin typeface="+mn-lt"/>
                          <a:ea typeface="+mn-ea"/>
                          <a:cs typeface="+mn-cs"/>
                        </a:rPr>
                        <a:t>Maksimum Yerleşik Yüklü Güç</a:t>
                      </a:r>
                      <a:r>
                        <a:rPr lang="en-GB" sz="1050" b="0" i="0" dirty="0">
                          <a:solidFill>
                            <a:schemeClr val="dk1"/>
                          </a:solidFill>
                          <a:effectLst/>
                          <a:latin typeface="+mn-lt"/>
                          <a:ea typeface="+mn-ea"/>
                          <a:cs typeface="+mn-cs"/>
                        </a:rPr>
                        <a:t> (Kw/</a:t>
                      </a:r>
                      <a:r>
                        <a:rPr lang="en-GB" sz="1050" b="0" i="0" dirty="0" err="1">
                          <a:solidFill>
                            <a:schemeClr val="dk1"/>
                          </a:solidFill>
                          <a:effectLst/>
                          <a:latin typeface="+mn-lt"/>
                          <a:ea typeface="+mn-ea"/>
                          <a:cs typeface="+mn-cs"/>
                        </a:rPr>
                        <a:t>Hp</a:t>
                      </a:r>
                      <a:r>
                        <a:rPr lang="en-GB" sz="1050" b="0" i="0" dirty="0">
                          <a:solidFill>
                            <a:schemeClr val="dk1"/>
                          </a:solidFill>
                          <a:effectLst/>
                          <a:latin typeface="+mn-lt"/>
                          <a:ea typeface="+mn-ea"/>
                          <a:cs typeface="+mn-cs"/>
                        </a:rPr>
                        <a:t>)</a:t>
                      </a:r>
                      <a:endParaRPr lang="tr-TR" sz="105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tr-TR" sz="14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119209"/>
                  </a:ext>
                </a:extLst>
              </a:tr>
            </a:tbl>
          </a:graphicData>
        </a:graphic>
      </p:graphicFrame>
      <p:sp>
        <p:nvSpPr>
          <p:cNvPr id="3" name="Metin kutusu 2"/>
          <p:cNvSpPr txBox="1"/>
          <p:nvPr/>
        </p:nvSpPr>
        <p:spPr>
          <a:xfrm>
            <a:off x="952500" y="4511177"/>
            <a:ext cx="6172200" cy="507831"/>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a:t>
            </a:r>
            <a:r>
              <a:rPr lang="tr-TR" sz="1100" dirty="0">
                <a:latin typeface="Times New Roman" panose="02020603050405020304" pitchFamily="18" charset="0"/>
                <a:cs typeface="Times New Roman" panose="02020603050405020304" pitchFamily="18" charset="0"/>
              </a:rPr>
              <a:t>Sunumun en başında elde edilen araç görseli ve temel araç parametrelerine yer veren özet bir bilgi bulunmalıdır.</a:t>
            </a:r>
          </a:p>
        </p:txBody>
      </p:sp>
      <p:sp>
        <p:nvSpPr>
          <p:cNvPr id="4" name="Rectangle 3"/>
          <p:cNvSpPr/>
          <p:nvPr/>
        </p:nvSpPr>
        <p:spPr>
          <a:xfrm>
            <a:off x="4419600" y="1428529"/>
            <a:ext cx="3657600" cy="277806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sp>
        <p:nvSpPr>
          <p:cNvPr id="5" name="TextBox 4"/>
          <p:cNvSpPr txBox="1"/>
          <p:nvPr/>
        </p:nvSpPr>
        <p:spPr>
          <a:xfrm rot="20384158">
            <a:off x="5171742" y="2439985"/>
            <a:ext cx="2385268" cy="369332"/>
          </a:xfrm>
          <a:prstGeom prst="rect">
            <a:avLst/>
          </a:prstGeom>
          <a:noFill/>
        </p:spPr>
        <p:txBody>
          <a:bodyPr wrap="none" rtlCol="0">
            <a:spAutoFit/>
          </a:bodyPr>
          <a:lstStyle/>
          <a:p>
            <a:r>
              <a:rPr lang="en-GB" dirty="0" err="1"/>
              <a:t>Araç</a:t>
            </a:r>
            <a:r>
              <a:rPr lang="en-GB" dirty="0"/>
              <a:t> </a:t>
            </a:r>
            <a:r>
              <a:rPr lang="en-GB" dirty="0" err="1"/>
              <a:t>Görseli</a:t>
            </a:r>
            <a:r>
              <a:rPr lang="en-GB" dirty="0"/>
              <a:t> (</a:t>
            </a:r>
            <a:r>
              <a:rPr lang="en-GB" dirty="0" err="1"/>
              <a:t>Isometrik</a:t>
            </a:r>
            <a:r>
              <a:rPr lang="en-GB" dirty="0"/>
              <a:t>)</a:t>
            </a:r>
            <a:endParaRPr lang="tr-TR" dirty="0"/>
          </a:p>
        </p:txBody>
      </p:sp>
      <p:sp>
        <p:nvSpPr>
          <p:cNvPr id="8" name="TextBox 7"/>
          <p:cNvSpPr txBox="1"/>
          <p:nvPr/>
        </p:nvSpPr>
        <p:spPr>
          <a:xfrm>
            <a:off x="959126" y="1128090"/>
            <a:ext cx="2092304" cy="276999"/>
          </a:xfrm>
          <a:prstGeom prst="rect">
            <a:avLst/>
          </a:prstGeom>
          <a:noFill/>
        </p:spPr>
        <p:txBody>
          <a:bodyPr wrap="none" rtlCol="0">
            <a:spAutoFit/>
          </a:bodyPr>
          <a:lstStyle/>
          <a:p>
            <a:r>
              <a:rPr lang="tr-TR" sz="1200" b="1" dirty="0"/>
              <a:t>Tablo 1. Araç Temel Özellikleri</a:t>
            </a:r>
            <a:endParaRPr lang="en-US" sz="1200" b="1" dirty="0"/>
          </a:p>
        </p:txBody>
      </p:sp>
      <p:sp>
        <p:nvSpPr>
          <p:cNvPr id="10" name="TextBox 9"/>
          <p:cNvSpPr txBox="1"/>
          <p:nvPr/>
        </p:nvSpPr>
        <p:spPr>
          <a:xfrm>
            <a:off x="5191655" y="4206597"/>
            <a:ext cx="2096856" cy="276999"/>
          </a:xfrm>
          <a:prstGeom prst="rect">
            <a:avLst/>
          </a:prstGeom>
          <a:noFill/>
        </p:spPr>
        <p:txBody>
          <a:bodyPr wrap="none" rtlCol="0">
            <a:spAutoFit/>
          </a:bodyPr>
          <a:lstStyle/>
          <a:p>
            <a:r>
              <a:rPr lang="tr-TR" sz="1200" b="1" dirty="0"/>
              <a:t>Şekil 1. Araç Genel Görünümü</a:t>
            </a:r>
            <a:endParaRPr lang="en-US" sz="1200" b="1" dirty="0"/>
          </a:p>
        </p:txBody>
      </p:sp>
    </p:spTree>
    <p:extLst>
      <p:ext uri="{BB962C8B-B14F-4D97-AF65-F5344CB8AC3E}">
        <p14:creationId xmlns:p14="http://schemas.microsoft.com/office/powerpoint/2010/main" val="1867792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1981200" y="438150"/>
            <a:ext cx="5715000" cy="523220"/>
          </a:xfrm>
          <a:prstGeom prst="rect">
            <a:avLst/>
          </a:prstGeom>
          <a:noFill/>
        </p:spPr>
        <p:txBody>
          <a:bodyPr wrap="square" rtlCol="0">
            <a:spAutoFit/>
          </a:bodyPr>
          <a:lstStyle/>
          <a:p>
            <a:pPr algn="ctr"/>
            <a:r>
              <a:rPr lang="tr-TR" sz="2800" dirty="0">
                <a:latin typeface="Times New Roman" panose="02020603050405020304" pitchFamily="18" charset="0"/>
                <a:cs typeface="Times New Roman" panose="02020603050405020304" pitchFamily="18" charset="0"/>
              </a:rPr>
              <a:t>Konu Başlığı</a:t>
            </a:r>
          </a:p>
        </p:txBody>
      </p:sp>
      <p:sp>
        <p:nvSpPr>
          <p:cNvPr id="8" name="Metin kutusu 7"/>
          <p:cNvSpPr txBox="1"/>
          <p:nvPr/>
        </p:nvSpPr>
        <p:spPr>
          <a:xfrm>
            <a:off x="533400" y="1581150"/>
            <a:ext cx="8077200" cy="3139321"/>
          </a:xfrm>
          <a:prstGeom prst="rect">
            <a:avLst/>
          </a:prstGeom>
          <a:noFill/>
        </p:spPr>
        <p:txBody>
          <a:bodyPr wrap="square" rtlCol="0">
            <a:spAutoFit/>
          </a:bodyPr>
          <a:lstStyle/>
          <a:p>
            <a:pPr marL="571500"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Final Tasarım Raporunda ifade edilen tüm konu başlıkları hakkında sunumda bilgi verilecektir.</a:t>
            </a:r>
          </a:p>
          <a:p>
            <a:pPr marL="1028700" lvl="1" indent="-571500">
              <a:buFont typeface="Wingdings" panose="05000000000000000000" pitchFamily="2" charset="2"/>
              <a:buChar char="ü"/>
            </a:pPr>
            <a:r>
              <a:rPr lang="en-US" sz="1400" dirty="0" err="1">
                <a:solidFill>
                  <a:prstClr val="black"/>
                </a:solidFill>
                <a:latin typeface="Times New Roman" panose="02020603050405020304" pitchFamily="18" charset="0"/>
                <a:cs typeface="Times New Roman" panose="02020603050405020304" pitchFamily="18" charset="0"/>
              </a:rPr>
              <a:t>Tasarım</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Gereksinimleri</a:t>
            </a:r>
            <a:endParaRPr lang="tr-TR" sz="1400" dirty="0">
              <a:solidFill>
                <a:prstClr val="black"/>
              </a:solidFill>
              <a:latin typeface="Times New Roman" panose="02020603050405020304" pitchFamily="18" charset="0"/>
              <a:cs typeface="Times New Roman" panose="02020603050405020304" pitchFamily="18" charset="0"/>
            </a:endParaRPr>
          </a:p>
          <a:p>
            <a:pPr marL="1485900" lvl="2"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a:t>
            </a:r>
          </a:p>
          <a:p>
            <a:pPr marL="1028700" lvl="1" indent="-571500">
              <a:buFont typeface="Wingdings" panose="05000000000000000000" pitchFamily="2" charset="2"/>
              <a:buChar char="ü"/>
            </a:pPr>
            <a:r>
              <a:rPr lang="en-US" sz="1400" dirty="0" err="1">
                <a:solidFill>
                  <a:prstClr val="black"/>
                </a:solidFill>
                <a:latin typeface="Times New Roman" panose="02020603050405020304" pitchFamily="18" charset="0"/>
                <a:cs typeface="Times New Roman" panose="02020603050405020304" pitchFamily="18" charset="0"/>
              </a:rPr>
              <a:t>Araç</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Tasarımı</a:t>
            </a:r>
            <a:endParaRPr lang="tr-TR" sz="1400" dirty="0">
              <a:solidFill>
                <a:prstClr val="black"/>
              </a:solidFill>
              <a:latin typeface="Times New Roman" panose="02020603050405020304" pitchFamily="18" charset="0"/>
              <a:cs typeface="Times New Roman" panose="02020603050405020304" pitchFamily="18" charset="0"/>
            </a:endParaRPr>
          </a:p>
          <a:p>
            <a:pPr marL="1485900" lvl="2"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a:t>
            </a:r>
          </a:p>
          <a:p>
            <a:pPr marL="571500"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Bu yıl Helikopter Tasarım yarışması </a:t>
            </a:r>
            <a:r>
              <a:rPr lang="en-US" sz="1400" dirty="0" err="1">
                <a:solidFill>
                  <a:prstClr val="black"/>
                </a:solidFill>
                <a:latin typeface="Times New Roman" panose="02020603050405020304" pitchFamily="18" charset="0"/>
                <a:cs typeface="Times New Roman" panose="02020603050405020304" pitchFamily="18" charset="0"/>
              </a:rPr>
              <a:t>yüksek</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havada</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kalış</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süresi</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gereksinimi</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olan</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hava</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aracı</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tasarımı</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odaklı</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bir</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yarışmadır</a:t>
            </a:r>
            <a:r>
              <a:rPr lang="tr-TR" sz="1400" dirty="0">
                <a:solidFill>
                  <a:prstClr val="black"/>
                </a:solidFill>
                <a:latin typeface="Times New Roman" panose="02020603050405020304" pitchFamily="18" charset="0"/>
                <a:cs typeface="Times New Roman" panose="02020603050405020304" pitchFamily="18" charset="0"/>
              </a:rPr>
              <a:t>.</a:t>
            </a:r>
          </a:p>
          <a:p>
            <a:pPr marL="1028700" lvl="1"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Çalışmanızda size belirtilen </a:t>
            </a:r>
            <a:r>
              <a:rPr lang="en-US" sz="1400" dirty="0" err="1">
                <a:solidFill>
                  <a:prstClr val="black"/>
                </a:solidFill>
                <a:latin typeface="Times New Roman" panose="02020603050405020304" pitchFamily="18" charset="0"/>
                <a:cs typeface="Times New Roman" panose="02020603050405020304" pitchFamily="18" charset="0"/>
              </a:rPr>
              <a:t>tasarım</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isteri</a:t>
            </a:r>
            <a:r>
              <a:rPr lang="en-US" sz="1400" dirty="0">
                <a:solidFill>
                  <a:prstClr val="black"/>
                </a:solidFill>
                <a:latin typeface="Times New Roman" panose="02020603050405020304" pitchFamily="18" charset="0"/>
                <a:cs typeface="Times New Roman" panose="02020603050405020304" pitchFamily="18" charset="0"/>
              </a:rPr>
              <a:t> </a:t>
            </a:r>
            <a:r>
              <a:rPr lang="tr-TR" sz="1400" dirty="0">
                <a:solidFill>
                  <a:prstClr val="black"/>
                </a:solidFill>
                <a:latin typeface="Times New Roman" panose="02020603050405020304" pitchFamily="18" charset="0"/>
                <a:cs typeface="Times New Roman" panose="02020603050405020304" pitchFamily="18" charset="0"/>
              </a:rPr>
              <a:t>hedeflerinizi net belirtin</a:t>
            </a:r>
          </a:p>
          <a:p>
            <a:pPr marL="1028700" lvl="1"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Bu hedefe ulaşmak için müşteri gereksinimleri ve tasarım gereksinimlerini anlaşılır bir şekilde ifade edin</a:t>
            </a:r>
          </a:p>
          <a:p>
            <a:pPr marL="1028700" lvl="1"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Belirlediğiniz gereksinimler doğrultusunda tasarladığınız hava aracını net bir şekilde izah edin.</a:t>
            </a:r>
          </a:p>
          <a:p>
            <a:pPr marL="1028700" lvl="1" indent="-571500">
              <a:buFont typeface="Wingdings" panose="05000000000000000000" pitchFamily="2" charset="2"/>
              <a:buChar char="ü"/>
            </a:pPr>
            <a:r>
              <a:rPr lang="tr-TR" sz="1400" dirty="0">
                <a:solidFill>
                  <a:prstClr val="black"/>
                </a:solidFill>
                <a:latin typeface="Times New Roman" panose="02020603050405020304" pitchFamily="18" charset="0"/>
                <a:cs typeface="Times New Roman" panose="02020603050405020304" pitchFamily="18" charset="0"/>
              </a:rPr>
              <a:t>Sunumda odak noktanız, </a:t>
            </a:r>
            <a:r>
              <a:rPr lang="en-US" sz="1400" dirty="0" err="1">
                <a:solidFill>
                  <a:prstClr val="black"/>
                </a:solidFill>
                <a:latin typeface="Times New Roman" panose="02020603050405020304" pitchFamily="18" charset="0"/>
                <a:cs typeface="Times New Roman" panose="02020603050405020304" pitchFamily="18" charset="0"/>
              </a:rPr>
              <a:t>verilen</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şartname</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isterlerini</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karşılayan</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en</a:t>
            </a:r>
            <a:r>
              <a:rPr lang="en-US" sz="1400" dirty="0">
                <a:solidFill>
                  <a:prstClr val="black"/>
                </a:solidFill>
                <a:latin typeface="Times New Roman" panose="02020603050405020304" pitchFamily="18" charset="0"/>
                <a:cs typeface="Times New Roman" panose="02020603050405020304" pitchFamily="18" charset="0"/>
              </a:rPr>
              <a:t> optimize </a:t>
            </a:r>
            <a:r>
              <a:rPr lang="en-US" sz="1400" dirty="0" err="1">
                <a:solidFill>
                  <a:prstClr val="black"/>
                </a:solidFill>
                <a:latin typeface="Times New Roman" panose="02020603050405020304" pitchFamily="18" charset="0"/>
                <a:cs typeface="Times New Roman" panose="02020603050405020304" pitchFamily="18" charset="0"/>
              </a:rPr>
              <a:t>hava</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aracını</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yapmak</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ve</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beklenilen</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bilimsel</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temellere</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oturtmaktır</a:t>
            </a:r>
            <a:r>
              <a:rPr lang="en-US" sz="1400" dirty="0">
                <a:solidFill>
                  <a:prstClr val="black"/>
                </a:solidFill>
                <a:latin typeface="Times New Roman" panose="02020603050405020304" pitchFamily="18" charset="0"/>
                <a:cs typeface="Times New Roman" panose="02020603050405020304" pitchFamily="18" charset="0"/>
              </a:rPr>
              <a:t>. </a:t>
            </a:r>
            <a:endParaRPr lang="tr-TR" sz="1400" dirty="0">
              <a:solidFill>
                <a:prstClr val="black"/>
              </a:solidFill>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p:txBody>
      </p:sp>
      <p:pic>
        <p:nvPicPr>
          <p:cNvPr id="4" name="Resi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397302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1981200" y="438150"/>
            <a:ext cx="5715000" cy="523220"/>
          </a:xfrm>
          <a:prstGeom prst="rect">
            <a:avLst/>
          </a:prstGeom>
          <a:noFill/>
        </p:spPr>
        <p:txBody>
          <a:bodyPr wrap="square" rtlCol="0">
            <a:spAutoFit/>
          </a:bodyPr>
          <a:lstStyle/>
          <a:p>
            <a:pPr algn="ctr"/>
            <a:r>
              <a:rPr lang="tr-TR" sz="2800" dirty="0">
                <a:latin typeface="Times New Roman" panose="02020603050405020304" pitchFamily="18" charset="0"/>
                <a:cs typeface="Times New Roman" panose="02020603050405020304" pitchFamily="18" charset="0"/>
              </a:rPr>
              <a:t>Konu Başlığı</a:t>
            </a:r>
          </a:p>
        </p:txBody>
      </p:sp>
      <p:sp>
        <p:nvSpPr>
          <p:cNvPr id="8" name="Metin kutusu 7"/>
          <p:cNvSpPr txBox="1"/>
          <p:nvPr/>
        </p:nvSpPr>
        <p:spPr>
          <a:xfrm>
            <a:off x="533400" y="1581150"/>
            <a:ext cx="8077200" cy="3293209"/>
          </a:xfrm>
          <a:prstGeom prst="rect">
            <a:avLst/>
          </a:prstGeom>
          <a:noFill/>
        </p:spPr>
        <p:txBody>
          <a:bodyPr wrap="square" rtlCol="0">
            <a:spAutoFit/>
          </a:bodyPr>
          <a:lstStyle/>
          <a:p>
            <a:pPr marL="571500"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Yapılan çalışma, mümkün olan en yalın haliyle izah edilmelidir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Grafikler, akış şemaları ve tablolar araçlığı ile yapılan çalışmalar ve elde edilen sonuçlar hakemlere izah edilmelidir.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Sunularda uzun metinler yerine anahtar kelimeler ya da çok gerekmesi durumunda kısa cümlelere yer verilmeli sunumu yapan ekip bu anahtar kelimeler üzerinden yaptıkları çalışmaları izah etmelidir.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 bolca görseller ile desteklenmelidir.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Sunumda kitabi bilgi olmamalı (sistemlerin çalışma prensipleri vs.) bunun yerine takımın gerçekleştirdiği çalışmalara yer verilmelidir.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Tüm birimler SI birim sisteminde olmalıdır.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Grafikler ve tablolar okunaklı olmalıdır.</a:t>
            </a:r>
          </a:p>
          <a:p>
            <a:pPr marL="1485900" lvl="2"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p:txBody>
      </p:sp>
      <p:pic>
        <p:nvPicPr>
          <p:cNvPr id="4" name="Resi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965191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1981200" y="438150"/>
            <a:ext cx="5715000" cy="523220"/>
          </a:xfrm>
          <a:prstGeom prst="rect">
            <a:avLst/>
          </a:prstGeom>
          <a:noFill/>
        </p:spPr>
        <p:txBody>
          <a:bodyPr wrap="square" rtlCol="0">
            <a:spAutoFit/>
          </a:bodyPr>
          <a:lstStyle/>
          <a:p>
            <a:pPr algn="ctr"/>
            <a:r>
              <a:rPr lang="tr-TR" sz="2800" dirty="0">
                <a:latin typeface="Times New Roman" panose="02020603050405020304" pitchFamily="18" charset="0"/>
                <a:cs typeface="Times New Roman" panose="02020603050405020304" pitchFamily="18" charset="0"/>
              </a:rPr>
              <a:t>Konu Başlığı</a:t>
            </a:r>
          </a:p>
        </p:txBody>
      </p:sp>
      <p:sp>
        <p:nvSpPr>
          <p:cNvPr id="8" name="Metin kutusu 7"/>
          <p:cNvSpPr txBox="1"/>
          <p:nvPr/>
        </p:nvSpPr>
        <p:spPr>
          <a:xfrm>
            <a:off x="533400" y="1581150"/>
            <a:ext cx="8077200" cy="3046988"/>
          </a:xfrm>
          <a:prstGeom prst="rect">
            <a:avLst/>
          </a:prstGeom>
          <a:noFill/>
        </p:spPr>
        <p:txBody>
          <a:bodyPr wrap="square" rtlCol="0">
            <a:spAutoFit/>
          </a:bodyPr>
          <a:lstStyle/>
          <a:p>
            <a:pPr marL="571500"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Sunuma ilişkin kurallar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İlk sunum başladıktan sonra herhangi bir sunumun düzenlenmesi/değiştirilmesi mümkün değildir. Bu nedenle </a:t>
            </a:r>
            <a:r>
              <a:rPr lang="en-US" sz="1600" dirty="0">
                <a:solidFill>
                  <a:prstClr val="black"/>
                </a:solidFill>
                <a:latin typeface="Times New Roman" panose="02020603050405020304" pitchFamily="18" charset="0"/>
                <a:cs typeface="Times New Roman" panose="02020603050405020304" pitchFamily="18" charset="0"/>
              </a:rPr>
              <a:t>final </a:t>
            </a:r>
            <a:r>
              <a:rPr lang="en-US" sz="1600" dirty="0" err="1">
                <a:solidFill>
                  <a:prstClr val="black"/>
                </a:solidFill>
                <a:latin typeface="Times New Roman" panose="02020603050405020304" pitchFamily="18" charset="0"/>
                <a:cs typeface="Times New Roman" panose="02020603050405020304" pitchFamily="18" charset="0"/>
              </a:rPr>
              <a:t>sunumları</a:t>
            </a:r>
            <a:r>
              <a:rPr lang="en-US" sz="1600" dirty="0">
                <a:solidFill>
                  <a:prstClr val="black"/>
                </a:solidFill>
                <a:latin typeface="Times New Roman" panose="02020603050405020304" pitchFamily="18" charset="0"/>
                <a:cs typeface="Times New Roman" panose="02020603050405020304" pitchFamily="18" charset="0"/>
              </a:rPr>
              <a:t> 15 </a:t>
            </a:r>
            <a:r>
              <a:rPr lang="en-US" sz="1600" dirty="0" err="1">
                <a:solidFill>
                  <a:prstClr val="black"/>
                </a:solidFill>
                <a:latin typeface="Times New Roman" panose="02020603050405020304" pitchFamily="18" charset="0"/>
                <a:cs typeface="Times New Roman" panose="02020603050405020304" pitchFamily="18" charset="0"/>
              </a:rPr>
              <a:t>Eylül</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saat</a:t>
            </a:r>
            <a:r>
              <a:rPr lang="en-US" sz="1600" dirty="0">
                <a:solidFill>
                  <a:prstClr val="black"/>
                </a:solidFill>
                <a:latin typeface="Times New Roman" panose="02020603050405020304" pitchFamily="18" charset="0"/>
                <a:cs typeface="Times New Roman" panose="02020603050405020304" pitchFamily="18" charset="0"/>
              </a:rPr>
              <a:t> 17:00’a </a:t>
            </a:r>
            <a:r>
              <a:rPr lang="en-US" sz="1600" dirty="0" err="1">
                <a:solidFill>
                  <a:prstClr val="black"/>
                </a:solidFill>
                <a:latin typeface="Times New Roman" panose="02020603050405020304" pitchFamily="18" charset="0"/>
                <a:cs typeface="Times New Roman" panose="02020603050405020304" pitchFamily="18" charset="0"/>
              </a:rPr>
              <a:t>kadar</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teslim</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edilmiş</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olmalıdır</a:t>
            </a:r>
            <a:r>
              <a:rPr lang="tr-TR" sz="1600" dirty="0">
                <a:solidFill>
                  <a:prstClr val="black"/>
                </a:solidFill>
                <a:latin typeface="Times New Roman" panose="02020603050405020304" pitchFamily="18" charset="0"/>
                <a:cs typeface="Times New Roman" panose="02020603050405020304" pitchFamily="18" charset="0"/>
              </a:rPr>
              <a:t>. </a:t>
            </a:r>
            <a:r>
              <a:rPr lang="en-US" sz="1600" dirty="0">
                <a:solidFill>
                  <a:prstClr val="black"/>
                </a:solidFill>
                <a:latin typeface="Times New Roman" panose="02020603050405020304" pitchFamily="18" charset="0"/>
                <a:cs typeface="Times New Roman" panose="02020603050405020304" pitchFamily="18" charset="0"/>
              </a:rPr>
              <a:t>S</a:t>
            </a:r>
            <a:r>
              <a:rPr lang="tr-TR" sz="1600" dirty="0" err="1">
                <a:solidFill>
                  <a:prstClr val="black"/>
                </a:solidFill>
                <a:latin typeface="Times New Roman" panose="02020603050405020304" pitchFamily="18" charset="0"/>
                <a:cs typeface="Times New Roman" panose="02020603050405020304" pitchFamily="18" charset="0"/>
              </a:rPr>
              <a:t>unumunu</a:t>
            </a:r>
            <a:r>
              <a:rPr lang="tr-TR" sz="1600" dirty="0">
                <a:solidFill>
                  <a:prstClr val="black"/>
                </a:solidFill>
                <a:latin typeface="Times New Roman" panose="02020603050405020304" pitchFamily="18" charset="0"/>
                <a:cs typeface="Times New Roman" panose="02020603050405020304" pitchFamily="18" charset="0"/>
              </a:rPr>
              <a:t> teslim etmeyen ekip diskalifiye olacaktır.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Sunuda yer verilmemiş bir çalışma yapılmadı kabul edilecektir. </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Sunumlar </a:t>
            </a:r>
            <a:r>
              <a:rPr lang="en-US" sz="1600" dirty="0">
                <a:solidFill>
                  <a:prstClr val="black"/>
                </a:solidFill>
                <a:latin typeface="Times New Roman" panose="02020603050405020304" pitchFamily="18" charset="0"/>
                <a:cs typeface="Times New Roman" panose="02020603050405020304" pitchFamily="18" charset="0"/>
              </a:rPr>
              <a:t>50 </a:t>
            </a:r>
            <a:r>
              <a:rPr lang="tr-TR" sz="1600" dirty="0" err="1">
                <a:solidFill>
                  <a:prstClr val="black"/>
                </a:solidFill>
                <a:latin typeface="Times New Roman" panose="02020603050405020304" pitchFamily="18" charset="0"/>
                <a:cs typeface="Times New Roman" panose="02020603050405020304" pitchFamily="18" charset="0"/>
              </a:rPr>
              <a:t>dk</a:t>
            </a:r>
            <a:r>
              <a:rPr lang="tr-TR" sz="1600" dirty="0">
                <a:solidFill>
                  <a:prstClr val="black"/>
                </a:solidFill>
                <a:latin typeface="Times New Roman" panose="02020603050405020304" pitchFamily="18" charset="0"/>
                <a:cs typeface="Times New Roman" panose="02020603050405020304" pitchFamily="18" charset="0"/>
              </a:rPr>
              <a:t> yapılacaktır. Sunumların ardından </a:t>
            </a:r>
            <a:r>
              <a:rPr lang="en-US" sz="1600" dirty="0">
                <a:solidFill>
                  <a:prstClr val="black"/>
                </a:solidFill>
                <a:latin typeface="Times New Roman" panose="02020603050405020304" pitchFamily="18" charset="0"/>
                <a:cs typeface="Times New Roman" panose="02020603050405020304" pitchFamily="18" charset="0"/>
              </a:rPr>
              <a:t>1 </a:t>
            </a:r>
            <a:r>
              <a:rPr lang="en-US" sz="1600" dirty="0" err="1">
                <a:solidFill>
                  <a:prstClr val="black"/>
                </a:solidFill>
                <a:latin typeface="Times New Roman" panose="02020603050405020304" pitchFamily="18" charset="0"/>
                <a:cs typeface="Times New Roman" panose="02020603050405020304" pitchFamily="18" charset="0"/>
              </a:rPr>
              <a:t>saate</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kadar</a:t>
            </a:r>
            <a:r>
              <a:rPr lang="tr-TR" sz="1600" dirty="0">
                <a:solidFill>
                  <a:prstClr val="black"/>
                </a:solidFill>
                <a:latin typeface="Times New Roman" panose="02020603050405020304" pitchFamily="18" charset="0"/>
                <a:cs typeface="Times New Roman" panose="02020603050405020304" pitchFamily="18" charset="0"/>
              </a:rPr>
              <a:t> soru cevap bölümü olacaktır.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Sunumlar İngilizce ya da Türkçe dillerinden birinde yapılabilir.</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Sunumlarda terimlerin doğru kullanımına azami önem verilmelidir.</a:t>
            </a:r>
          </a:p>
          <a:p>
            <a:pPr marL="1028700" lvl="1"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a:p>
            <a:pPr marL="1485900" lvl="2"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p:txBody>
      </p:sp>
      <p:pic>
        <p:nvPicPr>
          <p:cNvPr id="4" name="Resi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76382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1981200" y="438150"/>
            <a:ext cx="5715000" cy="523220"/>
          </a:xfrm>
          <a:prstGeom prst="rect">
            <a:avLst/>
          </a:prstGeom>
          <a:noFill/>
        </p:spPr>
        <p:txBody>
          <a:bodyPr wrap="square" rtlCol="0">
            <a:spAutoFit/>
          </a:bodyPr>
          <a:lstStyle/>
          <a:p>
            <a:pPr algn="ctr"/>
            <a:r>
              <a:rPr lang="tr-TR" sz="2800" dirty="0">
                <a:latin typeface="Times New Roman" panose="02020603050405020304" pitchFamily="18" charset="0"/>
                <a:cs typeface="Times New Roman" panose="02020603050405020304" pitchFamily="18" charset="0"/>
              </a:rPr>
              <a:t>Konu Başlığı</a:t>
            </a:r>
          </a:p>
        </p:txBody>
      </p:sp>
      <p:sp>
        <p:nvSpPr>
          <p:cNvPr id="8" name="Metin kutusu 7"/>
          <p:cNvSpPr txBox="1"/>
          <p:nvPr/>
        </p:nvSpPr>
        <p:spPr>
          <a:xfrm>
            <a:off x="533400" y="1581150"/>
            <a:ext cx="7391400" cy="1815882"/>
          </a:xfrm>
          <a:prstGeom prst="rect">
            <a:avLst/>
          </a:prstGeom>
          <a:noFill/>
        </p:spPr>
        <p:txBody>
          <a:bodyPr wrap="square" rtlCol="0">
            <a:spAutoFit/>
          </a:bodyPr>
          <a:lstStyle/>
          <a:p>
            <a:pPr marL="571500"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Puanlama</a:t>
            </a: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Sunuma ilişkin değerlendirme kriteri final raporu ile aynı olacaktır.</a:t>
            </a:r>
            <a:r>
              <a:rPr lang="en-US" sz="1600" dirty="0">
                <a:solidFill>
                  <a:prstClr val="black"/>
                </a:solidFill>
                <a:latin typeface="Times New Roman" panose="02020603050405020304" pitchFamily="18" charset="0"/>
                <a:cs typeface="Times New Roman" panose="02020603050405020304" pitchFamily="18" charset="0"/>
              </a:rPr>
              <a:t> Bir </a:t>
            </a:r>
            <a:r>
              <a:rPr lang="en-US" sz="1600" dirty="0" err="1">
                <a:solidFill>
                  <a:prstClr val="black"/>
                </a:solidFill>
                <a:latin typeface="Times New Roman" panose="02020603050405020304" pitchFamily="18" charset="0"/>
                <a:cs typeface="Times New Roman" panose="02020603050405020304" pitchFamily="18" charset="0"/>
              </a:rPr>
              <a:t>revizyon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yapılması</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halinde</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yarışmacılara</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bilgi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verilecektir</a:t>
            </a:r>
            <a:r>
              <a:rPr lang="en-US" sz="1600" dirty="0">
                <a:solidFill>
                  <a:prstClr val="black"/>
                </a:solidFill>
                <a:latin typeface="Times New Roman" panose="02020603050405020304" pitchFamily="18" charset="0"/>
                <a:cs typeface="Times New Roman" panose="02020603050405020304" pitchFamily="18" charset="0"/>
              </a:rPr>
              <a:t>.</a:t>
            </a:r>
            <a:endParaRPr lang="tr-TR" sz="1600" dirty="0">
              <a:solidFill>
                <a:prstClr val="black"/>
              </a:solidFill>
              <a:latin typeface="Times New Roman" panose="02020603050405020304" pitchFamily="18" charset="0"/>
              <a:cs typeface="Times New Roman" panose="02020603050405020304" pitchFamily="18" charset="0"/>
            </a:endParaRPr>
          </a:p>
          <a:p>
            <a:pPr marL="1028700" lvl="1" indent="-571500">
              <a:buFont typeface="Wingdings" panose="05000000000000000000" pitchFamily="2" charset="2"/>
              <a:buChar char="ü"/>
            </a:pPr>
            <a:r>
              <a:rPr lang="tr-TR" sz="1600" dirty="0">
                <a:solidFill>
                  <a:prstClr val="black"/>
                </a:solidFill>
                <a:latin typeface="Times New Roman" panose="02020603050405020304" pitchFamily="18" charset="0"/>
                <a:cs typeface="Times New Roman" panose="02020603050405020304" pitchFamily="18" charset="0"/>
              </a:rPr>
              <a:t>Sunumda alınan puanlar teknik şartnamede izah edildiği oranda genel puan hesabında kullanılacaktır.</a:t>
            </a:r>
          </a:p>
          <a:p>
            <a:pPr marL="1485900" lvl="2"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ü"/>
            </a:pPr>
            <a:endParaRPr lang="tr-TR" sz="1600" dirty="0">
              <a:solidFill>
                <a:prstClr val="black"/>
              </a:solidFill>
              <a:latin typeface="Times New Roman" panose="02020603050405020304" pitchFamily="18" charset="0"/>
              <a:cs typeface="Times New Roman" panose="02020603050405020304" pitchFamily="18" charset="0"/>
            </a:endParaRPr>
          </a:p>
        </p:txBody>
      </p:sp>
      <p:pic>
        <p:nvPicPr>
          <p:cNvPr id="4" name="Resi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61995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762000" y="1962150"/>
            <a:ext cx="7162800" cy="1754326"/>
          </a:xfrm>
          <a:prstGeom prst="rect">
            <a:avLst/>
          </a:prstGeom>
          <a:noFill/>
        </p:spPr>
        <p:txBody>
          <a:bodyPr wrap="square" rtlCol="0">
            <a:spAutoFit/>
          </a:bodyPr>
          <a:lstStyle/>
          <a:p>
            <a:pPr algn="ctr"/>
            <a:r>
              <a:rPr lang="tr-TR" sz="2800" dirty="0"/>
              <a:t> </a:t>
            </a:r>
            <a:r>
              <a:rPr lang="tr-TR" sz="2800" dirty="0">
                <a:latin typeface="Times New Roman" panose="02020603050405020304" pitchFamily="18" charset="0"/>
                <a:cs typeface="Times New Roman" panose="02020603050405020304" pitchFamily="18" charset="0"/>
              </a:rPr>
              <a:t>DİNLEDİĞİNİZ İÇİN</a:t>
            </a:r>
          </a:p>
          <a:p>
            <a:pPr algn="ctr"/>
            <a:r>
              <a:rPr lang="tr-TR" sz="2800" dirty="0">
                <a:latin typeface="Times New Roman" panose="02020603050405020304" pitchFamily="18" charset="0"/>
                <a:cs typeface="Times New Roman" panose="02020603050405020304" pitchFamily="18" charset="0"/>
              </a:rPr>
              <a:t> TEŞEKKÜRLER!</a:t>
            </a:r>
          </a:p>
          <a:p>
            <a:pPr algn="ctr"/>
            <a:endParaRPr lang="tr-TR" sz="2800" dirty="0">
              <a:latin typeface="Times New Roman" panose="02020603050405020304" pitchFamily="18" charset="0"/>
              <a:cs typeface="Times New Roman" panose="02020603050405020304" pitchFamily="18" charset="0"/>
            </a:endParaRPr>
          </a:p>
          <a:p>
            <a:pPr algn="ctr"/>
            <a:r>
              <a:rPr lang="tr-TR" sz="2400" dirty="0">
                <a:latin typeface="Times New Roman" panose="02020603050405020304" pitchFamily="18" charset="0"/>
                <a:cs typeface="Times New Roman" panose="02020603050405020304" pitchFamily="18" charset="0"/>
              </a:rPr>
              <a:t>Soru-Cevap</a:t>
            </a:r>
            <a:endParaRPr lang="tr-TR" sz="2800" dirty="0">
              <a:latin typeface="Times New Roman" panose="02020603050405020304" pitchFamily="18" charset="0"/>
              <a:cs typeface="Times New Roman" panose="02020603050405020304" pitchFamily="18" charset="0"/>
            </a:endParaRPr>
          </a:p>
        </p:txBody>
      </p:sp>
      <p:pic>
        <p:nvPicPr>
          <p:cNvPr id="5" name="Resim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884372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2057400" y="361950"/>
            <a:ext cx="5334000" cy="523220"/>
          </a:xfrm>
          <a:prstGeom prst="rect">
            <a:avLst/>
          </a:prstGeom>
          <a:noFill/>
        </p:spPr>
        <p:txBody>
          <a:bodyPr wrap="square" rtlCol="0">
            <a:spAutoFit/>
          </a:bodyPr>
          <a:lstStyle/>
          <a:p>
            <a:pPr algn="ctr"/>
            <a:r>
              <a:rPr lang="tr-TR" sz="2800" b="1" dirty="0">
                <a:latin typeface="Times New Roman" panose="02020603050405020304" pitchFamily="18" charset="0"/>
                <a:cs typeface="Times New Roman" panose="02020603050405020304" pitchFamily="18" charset="0"/>
              </a:rPr>
              <a:t>Sunum İçin Öneriler</a:t>
            </a:r>
            <a:endParaRPr lang="tr-TR" sz="2800" dirty="0">
              <a:latin typeface="Times New Roman" panose="02020603050405020304" pitchFamily="18" charset="0"/>
              <a:cs typeface="Times New Roman" panose="02020603050405020304" pitchFamily="18" charset="0"/>
            </a:endParaRPr>
          </a:p>
        </p:txBody>
      </p:sp>
      <p:sp>
        <p:nvSpPr>
          <p:cNvPr id="8" name="Metin kutusu 7"/>
          <p:cNvSpPr txBox="1"/>
          <p:nvPr/>
        </p:nvSpPr>
        <p:spPr>
          <a:xfrm>
            <a:off x="685800" y="1352550"/>
            <a:ext cx="8077200" cy="3077766"/>
          </a:xfrm>
          <a:prstGeom prst="rect">
            <a:avLst/>
          </a:prstGeom>
          <a:noFill/>
        </p:spPr>
        <p:txBody>
          <a:bodyPr wrap="square" rtlCol="0">
            <a:spAutoFit/>
          </a:bodyPr>
          <a:lstStyle/>
          <a:p>
            <a:r>
              <a:rPr lang="tr-TR" sz="1600" b="1" dirty="0">
                <a:latin typeface="Times New Roman" panose="02020603050405020304" pitchFamily="18" charset="0"/>
                <a:ea typeface="Calibri" panose="020F0502020204030204" pitchFamily="34" charset="0"/>
                <a:cs typeface="Times New Roman" panose="02020603050405020304" pitchFamily="18" charset="0"/>
              </a:rPr>
              <a:t>HAZIRLIK</a:t>
            </a:r>
          </a:p>
          <a:p>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tr-TR" sz="1600" b="1" dirty="0">
                <a:latin typeface="Times New Roman" panose="02020603050405020304" pitchFamily="18" charset="0"/>
                <a:ea typeface="Calibri" panose="020F0502020204030204" pitchFamily="34" charset="0"/>
                <a:cs typeface="Times New Roman" panose="02020603050405020304" pitchFamily="18" charset="0"/>
              </a:rPr>
              <a:t>Amaç</a:t>
            </a:r>
          </a:p>
          <a:p>
            <a:pPr marL="342900" lvl="0" indent="-342900">
              <a:buFont typeface="+mj-lt"/>
              <a:buAutoNum type="arabicPeriod"/>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449580" indent="0">
              <a:buNone/>
            </a:pPr>
            <a:r>
              <a:rPr lang="tr-TR" sz="1600" dirty="0">
                <a:latin typeface="Times New Roman" panose="02020603050405020304" pitchFamily="18" charset="0"/>
                <a:ea typeface="Calibri" panose="020F0502020204030204" pitchFamily="34" charset="0"/>
                <a:cs typeface="Times New Roman" panose="02020603050405020304" pitchFamily="18" charset="0"/>
              </a:rPr>
              <a:t>Sunum yaparken konuşmacının net ve uygun bir amacının olması gerekmektedir. Bu konuşmayı neden yapıyorsun? Seni dinleyenlere sunumunun neticesinde ne anlatmak veya neye inandırmaya çalışıyorsun? Sunumdan önce şu soruları cevaplamalısın:</a:t>
            </a:r>
          </a:p>
          <a:p>
            <a:pPr marL="219075" indent="0">
              <a:buNone/>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447675"/>
            <a:r>
              <a:rPr lang="tr-TR" sz="1600" dirty="0">
                <a:latin typeface="Times New Roman" panose="02020603050405020304" pitchFamily="18" charset="0"/>
                <a:ea typeface="Calibri" panose="020F0502020204030204" pitchFamily="34" charset="0"/>
                <a:cs typeface="Times New Roman" panose="02020603050405020304" pitchFamily="18" charset="0"/>
              </a:rPr>
              <a:t>Kime sunum yapıyorsun?</a:t>
            </a:r>
          </a:p>
          <a:p>
            <a:pPr marL="447675"/>
            <a:r>
              <a:rPr lang="tr-TR" sz="1600" dirty="0">
                <a:latin typeface="Times New Roman" panose="02020603050405020304" pitchFamily="18" charset="0"/>
                <a:ea typeface="Calibri" panose="020F0502020204030204" pitchFamily="34" charset="0"/>
                <a:cs typeface="Times New Roman" panose="02020603050405020304" pitchFamily="18" charset="0"/>
              </a:rPr>
              <a:t>Neden bu sunumu yapıyorsun? </a:t>
            </a:r>
          </a:p>
          <a:p>
            <a:pPr marL="447675"/>
            <a:r>
              <a:rPr lang="tr-TR" sz="1600" dirty="0">
                <a:latin typeface="Times New Roman" panose="02020603050405020304" pitchFamily="18" charset="0"/>
                <a:ea typeface="Calibri" panose="020F0502020204030204" pitchFamily="34" charset="0"/>
                <a:cs typeface="Times New Roman" panose="02020603050405020304" pitchFamily="18" charset="0"/>
              </a:rPr>
              <a:t>Dinleyicilerin bu sunumdan beklentileri neler?</a:t>
            </a:r>
            <a:endParaRPr lang="tr-TR" dirty="0"/>
          </a:p>
          <a:p>
            <a:endParaRPr lang="tr-TR" dirty="0"/>
          </a:p>
        </p:txBody>
      </p:sp>
      <p:sp>
        <p:nvSpPr>
          <p:cNvPr id="7" name="Metin kutusu 6"/>
          <p:cNvSpPr txBox="1"/>
          <p:nvPr/>
        </p:nvSpPr>
        <p:spPr>
          <a:xfrm>
            <a:off x="22860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9" name="Resi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248466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B97CCE-F001-4609-A4A4-1C9374CC6887}"/>
              </a:ext>
            </a:extLst>
          </p:cNvPr>
          <p:cNvSpPr>
            <a:spLocks noGrp="1"/>
          </p:cNvSpPr>
          <p:nvPr>
            <p:ph type="title"/>
          </p:nvPr>
        </p:nvSpPr>
        <p:spPr>
          <a:xfrm>
            <a:off x="2438400" y="438150"/>
            <a:ext cx="4686300" cy="43088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p>
        </p:txBody>
      </p:sp>
      <p:sp>
        <p:nvSpPr>
          <p:cNvPr id="3" name="Metin Yer Tutucusu 2">
            <a:extLst>
              <a:ext uri="{FF2B5EF4-FFF2-40B4-BE49-F238E27FC236}">
                <a16:creationId xmlns:a16="http://schemas.microsoft.com/office/drawing/2014/main" id="{9CD2DC34-341C-4A00-86ED-CF5590F49284}"/>
              </a:ext>
            </a:extLst>
          </p:cNvPr>
          <p:cNvSpPr>
            <a:spLocks noGrp="1"/>
          </p:cNvSpPr>
          <p:nvPr>
            <p:ph type="body" idx="1"/>
          </p:nvPr>
        </p:nvSpPr>
        <p:spPr>
          <a:xfrm>
            <a:off x="685800" y="1123950"/>
            <a:ext cx="7507020" cy="3375283"/>
          </a:xfrm>
        </p:spPr>
        <p:txBody>
          <a:bodyPr/>
          <a:lstStyle/>
          <a:p>
            <a:pPr marL="342900" lvl="0" indent="-342900">
              <a:buAutoNum type="arabicPeriod" startAt="2"/>
            </a:pPr>
            <a:r>
              <a:rPr lang="tr-TR" sz="1600" b="1" dirty="0">
                <a:latin typeface="Times New Roman" panose="02020603050405020304" pitchFamily="18" charset="0"/>
                <a:ea typeface="Calibri" panose="020F0502020204030204" pitchFamily="34" charset="0"/>
                <a:cs typeface="Times New Roman" panose="02020603050405020304" pitchFamily="18" charset="0"/>
              </a:rPr>
              <a:t>Materyalleri Doğru Seçmek</a:t>
            </a:r>
          </a:p>
          <a:p>
            <a:pPr marL="342900" lvl="0" indent="-342900">
              <a:buAutoNum type="arabicPeriod" startAt="2"/>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449580" indent="0">
              <a:buNone/>
            </a:pPr>
            <a:r>
              <a:rPr lang="tr-TR" sz="1600" dirty="0">
                <a:latin typeface="Times New Roman" panose="02020603050405020304" pitchFamily="18" charset="0"/>
                <a:ea typeface="Calibri" panose="020F0502020204030204" pitchFamily="34" charset="0"/>
                <a:cs typeface="Times New Roman" panose="02020603050405020304" pitchFamily="18" charset="0"/>
              </a:rPr>
              <a:t>Sunumda kullandığın materyaller dinleyicilerine uygun olmalı. Bu materyaller dinleyicileri sıkmamalı aksine vermek istediğiniz mesajı desteklemelidir. Ayrıca hazırladığınız materyalleri yaptığınız sunumla koordine bir şekilde ortaya koymalısınız.</a:t>
            </a:r>
          </a:p>
          <a:p>
            <a:pPr lvl="0">
              <a:lnSpc>
                <a:spcPct val="90000"/>
              </a:lnSpc>
              <a:spcBef>
                <a:spcPts val="1000"/>
              </a:spcBef>
              <a:defRPr/>
            </a:pPr>
            <a:r>
              <a:rPr lang="tr-TR"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3.    Net bir Yapı</a:t>
            </a:r>
            <a:endPar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228600">
              <a:lnSpc>
                <a:spcPct val="90000"/>
              </a:lnSpc>
              <a:spcBef>
                <a:spcPts val="1000"/>
              </a:spcBef>
              <a:buFont typeface="Arial" panose="020B0604020202020204" pitchFamily="34" charset="0"/>
              <a:buChar char="•"/>
              <a:defRPr/>
            </a:pPr>
            <a:r>
              <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Sunumun içeriğini mantıklı bir şekilde düzenleyin, basitten karmaşığa doğru gidin.</a:t>
            </a:r>
          </a:p>
          <a:p>
            <a:pPr marL="457200" lvl="0" indent="-228600">
              <a:lnSpc>
                <a:spcPct val="90000"/>
              </a:lnSpc>
              <a:spcBef>
                <a:spcPts val="1000"/>
              </a:spcBef>
              <a:buFont typeface="Arial" panose="020B0604020202020204" pitchFamily="34" charset="0"/>
              <a:buChar char="•"/>
              <a:defRPr/>
            </a:pPr>
            <a:r>
              <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Sunduğunuz içeriğin negatif ve pozitif yanlarını tartışın eğer negatif bir yanı varsa pozitif yanının daha ağır bastığını kanıtlayın.</a:t>
            </a:r>
          </a:p>
          <a:p>
            <a:pPr marL="457200" lvl="0" indent="-228600">
              <a:lnSpc>
                <a:spcPct val="90000"/>
              </a:lnSpc>
              <a:spcBef>
                <a:spcPts val="1000"/>
              </a:spcBef>
              <a:buFont typeface="Arial" panose="020B0604020202020204" pitchFamily="34" charset="0"/>
              <a:buChar char="•"/>
              <a:defRPr/>
            </a:pPr>
            <a:r>
              <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Sunumunuzu tek bir ana noktada özetleyin.</a:t>
            </a: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3698412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15551E-EE63-44F7-B374-F4C3288A6625}"/>
              </a:ext>
            </a:extLst>
          </p:cNvPr>
          <p:cNvSpPr>
            <a:spLocks noGrp="1"/>
          </p:cNvSpPr>
          <p:nvPr>
            <p:ph type="title"/>
          </p:nvPr>
        </p:nvSpPr>
        <p:spPr>
          <a:xfrm>
            <a:off x="2209800" y="399602"/>
            <a:ext cx="4840725" cy="43088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endParaRPr lang="tr-TR" sz="2800" dirty="0"/>
          </a:p>
        </p:txBody>
      </p:sp>
      <p:sp>
        <p:nvSpPr>
          <p:cNvPr id="3" name="Metin Yer Tutucusu 2">
            <a:extLst>
              <a:ext uri="{FF2B5EF4-FFF2-40B4-BE49-F238E27FC236}">
                <a16:creationId xmlns:a16="http://schemas.microsoft.com/office/drawing/2014/main" id="{778AC9DA-E63E-4ED0-9AAB-C4E7E16EFF72}"/>
              </a:ext>
            </a:extLst>
          </p:cNvPr>
          <p:cNvSpPr>
            <a:spLocks noGrp="1"/>
          </p:cNvSpPr>
          <p:nvPr>
            <p:ph type="body" idx="1"/>
          </p:nvPr>
        </p:nvSpPr>
        <p:spPr>
          <a:xfrm>
            <a:off x="901700" y="1161366"/>
            <a:ext cx="7477455" cy="3389646"/>
          </a:xfrm>
        </p:spPr>
        <p:txBody>
          <a:bodyPr/>
          <a:lstStyle/>
          <a:p>
            <a:pPr lvl="0"/>
            <a:r>
              <a:rPr lang="tr-TR" sz="1600" b="1" dirty="0">
                <a:latin typeface="Calibri" panose="020F0502020204030204" pitchFamily="34" charset="0"/>
                <a:ea typeface="Calibri" panose="020F0502020204030204" pitchFamily="34" charset="0"/>
                <a:cs typeface="Times New Roman" panose="02020603050405020304" pitchFamily="18" charset="0"/>
              </a:rPr>
              <a:t>4</a:t>
            </a:r>
            <a:r>
              <a:rPr lang="tr-TR" sz="1600" b="1" dirty="0">
                <a:latin typeface="Times New Roman" panose="02020603050405020304" pitchFamily="18" charset="0"/>
                <a:ea typeface="Calibri" panose="020F0502020204030204" pitchFamily="34" charset="0"/>
                <a:cs typeface="Times New Roman" panose="02020603050405020304" pitchFamily="18" charset="0"/>
              </a:rPr>
              <a:t>.    Zaman Yönetimi</a:t>
            </a: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449580" indent="0">
              <a:buNone/>
            </a:pPr>
            <a:r>
              <a:rPr lang="tr-TR" sz="1600" dirty="0">
                <a:latin typeface="Times New Roman" panose="02020603050405020304" pitchFamily="18" charset="0"/>
                <a:ea typeface="Calibri" panose="020F0502020204030204" pitchFamily="34" charset="0"/>
                <a:cs typeface="Times New Roman" panose="02020603050405020304" pitchFamily="18" charset="0"/>
              </a:rPr>
              <a:t>Sunum yaparken zamanı yönetmek çok önemlidir. Sunumunuzun süresini uzatmadan sunumunuz için gerekli olan her şeyi anlatmalısınız. Zamanı verimli kullanabilmek için mümkün olduğu kadar prova yapmanız gereklidir. </a:t>
            </a:r>
          </a:p>
          <a:p>
            <a:pPr marL="449580" indent="0">
              <a:buNone/>
            </a:pPr>
            <a:r>
              <a:rPr lang="tr-TR" sz="1600" dirty="0">
                <a:latin typeface="Times New Roman" panose="02020603050405020304" pitchFamily="18" charset="0"/>
                <a:ea typeface="Calibri" panose="020F0502020204030204" pitchFamily="34" charset="0"/>
                <a:cs typeface="Times New Roman" panose="02020603050405020304" pitchFamily="18" charset="0"/>
              </a:rPr>
              <a:t>Zamanınızı düzenlerken çok fazla duraklama kullanmayın, konuyla ilgili her şeyi anlatabilmek için çok hızlı konuşmayın. Birçok konuşmacı, hatta deneyimli olanlar bile ilk birkaç dakikada gereksiz yere zaman kaybedebiliyor.</a:t>
            </a:r>
          </a:p>
          <a:p>
            <a:pPr marL="449580" indent="0">
              <a:buNone/>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90000"/>
              </a:lnSpc>
              <a:spcBef>
                <a:spcPts val="1000"/>
              </a:spcBef>
              <a:defRPr/>
            </a:pPr>
            <a:r>
              <a:rPr lang="tr-TR"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5.    Konunun Kontrolü</a:t>
            </a:r>
            <a:endPar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449580" lvl="0">
              <a:lnSpc>
                <a:spcPct val="90000"/>
              </a:lnSpc>
              <a:spcBef>
                <a:spcPts val="1000"/>
              </a:spcBef>
              <a:defRPr/>
            </a:pPr>
            <a:r>
              <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Eğer ki dinleyici sunumu yapanın konuyu tam anlayamadığını fark ederse, dinleyiciye olan ciddiyetini kaybedebilirsin. Kendi konuşmanı kendin yaz ve sadece bildiğin şeyler hakkında konuş.</a:t>
            </a:r>
            <a:endParaRPr lang="tr-TR" sz="1600" dirty="0">
              <a:latin typeface="Times New Roman" panose="02020603050405020304" pitchFamily="18" charset="0"/>
              <a:cs typeface="Times New Roman" panose="02020603050405020304" pitchFamily="18" charset="0"/>
            </a:endParaRP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3585927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D72E90F-AEBF-486F-9327-5EB7DEBF95CC}"/>
              </a:ext>
            </a:extLst>
          </p:cNvPr>
          <p:cNvSpPr>
            <a:spLocks noGrp="1"/>
          </p:cNvSpPr>
          <p:nvPr>
            <p:ph type="title"/>
          </p:nvPr>
        </p:nvSpPr>
        <p:spPr>
          <a:xfrm>
            <a:off x="1943100" y="361950"/>
            <a:ext cx="5257800" cy="43088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endParaRPr lang="tr-TR" sz="2800" dirty="0"/>
          </a:p>
        </p:txBody>
      </p:sp>
      <p:sp>
        <p:nvSpPr>
          <p:cNvPr id="3" name="Metin Yer Tutucusu 2">
            <a:extLst>
              <a:ext uri="{FF2B5EF4-FFF2-40B4-BE49-F238E27FC236}">
                <a16:creationId xmlns:a16="http://schemas.microsoft.com/office/drawing/2014/main" id="{F548B336-1CEA-48DB-BD34-A581ABA104AE}"/>
              </a:ext>
            </a:extLst>
          </p:cNvPr>
          <p:cNvSpPr>
            <a:spLocks noGrp="1"/>
          </p:cNvSpPr>
          <p:nvPr>
            <p:ph type="body" idx="1"/>
          </p:nvPr>
        </p:nvSpPr>
        <p:spPr>
          <a:xfrm>
            <a:off x="818490" y="1837089"/>
            <a:ext cx="7507020" cy="2000548"/>
          </a:xfrm>
        </p:spPr>
        <p:txBody>
          <a:bodyPr/>
          <a:lstStyle/>
          <a:p>
            <a:r>
              <a:rPr lang="tr-TR" sz="1600" b="1" dirty="0">
                <a:latin typeface="Times New Roman" panose="02020603050405020304" pitchFamily="18" charset="0"/>
                <a:ea typeface="Calibri" panose="020F0502020204030204" pitchFamily="34" charset="0"/>
                <a:cs typeface="Times New Roman" panose="02020603050405020304" pitchFamily="18" charset="0"/>
              </a:rPr>
              <a:t>İLETİŞİM</a:t>
            </a:r>
          </a:p>
          <a:p>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tr-TR" sz="1600" b="1" dirty="0">
                <a:latin typeface="Times New Roman" panose="02020603050405020304" pitchFamily="18" charset="0"/>
                <a:ea typeface="Calibri" panose="020F0502020204030204" pitchFamily="34" charset="0"/>
                <a:cs typeface="Times New Roman" panose="02020603050405020304" pitchFamily="18" charset="0"/>
              </a:rPr>
              <a:t>Giriş</a:t>
            </a: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735330" indent="-285750">
              <a:buFont typeface="Arial" panose="020B0604020202020204" pitchFamily="34" charset="0"/>
              <a:buChar char="•"/>
            </a:pPr>
            <a:r>
              <a:rPr lang="tr-TR" sz="1600" dirty="0">
                <a:latin typeface="Times New Roman" panose="02020603050405020304" pitchFamily="18" charset="0"/>
                <a:ea typeface="Calibri" panose="020F0502020204030204" pitchFamily="34" charset="0"/>
                <a:cs typeface="Times New Roman" panose="02020603050405020304" pitchFamily="18" charset="0"/>
              </a:rPr>
              <a:t>Konuşmaya başlarken ilk kuracağınız birkaç cümle ile jürinin ilgisini çekmelisiniz. Belki bilimsel bir soru veya akılda kalıcı bir beyanda bulunabilirsiniz.</a:t>
            </a:r>
          </a:p>
          <a:p>
            <a:pPr marL="449580" indent="0">
              <a:buNone/>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4168544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5A804E-E63E-40B9-9188-B86690A42E14}"/>
              </a:ext>
            </a:extLst>
          </p:cNvPr>
          <p:cNvSpPr>
            <a:spLocks noGrp="1"/>
          </p:cNvSpPr>
          <p:nvPr>
            <p:ph type="title"/>
          </p:nvPr>
        </p:nvSpPr>
        <p:spPr>
          <a:xfrm>
            <a:off x="2231199" y="438150"/>
            <a:ext cx="4681602" cy="43088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endParaRPr lang="tr-TR" sz="2800" dirty="0"/>
          </a:p>
        </p:txBody>
      </p:sp>
      <p:sp>
        <p:nvSpPr>
          <p:cNvPr id="3" name="Metin Yer Tutucusu 2">
            <a:extLst>
              <a:ext uri="{FF2B5EF4-FFF2-40B4-BE49-F238E27FC236}">
                <a16:creationId xmlns:a16="http://schemas.microsoft.com/office/drawing/2014/main" id="{1E2A44B2-384E-4F38-B64C-697A6C83D0C2}"/>
              </a:ext>
            </a:extLst>
          </p:cNvPr>
          <p:cNvSpPr>
            <a:spLocks noGrp="1"/>
          </p:cNvSpPr>
          <p:nvPr>
            <p:ph type="body" idx="1"/>
          </p:nvPr>
        </p:nvSpPr>
        <p:spPr>
          <a:xfrm>
            <a:off x="818489" y="1504950"/>
            <a:ext cx="7792111" cy="2492990"/>
          </a:xfrm>
        </p:spPr>
        <p:txBody>
          <a:bodyPr/>
          <a:lstStyle/>
          <a:p>
            <a:pPr marL="342900" lvl="0" indent="-342900">
              <a:buAutoNum type="arabicPeriod" startAt="2"/>
            </a:pPr>
            <a:r>
              <a:rPr lang="tr-TR" sz="1600" b="1" dirty="0">
                <a:latin typeface="Times New Roman" panose="02020603050405020304" pitchFamily="18" charset="0"/>
                <a:ea typeface="Calibri" panose="020F0502020204030204" pitchFamily="34" charset="0"/>
                <a:cs typeface="Times New Roman" panose="02020603050405020304" pitchFamily="18" charset="0"/>
              </a:rPr>
              <a:t>Konuşma</a:t>
            </a:r>
          </a:p>
          <a:p>
            <a:pPr marL="342900" lvl="0" indent="-342900">
              <a:buAutoNum type="arabicPeriod" startAt="2"/>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735330" indent="-285750">
              <a:buFont typeface="Arial" panose="020B0604020202020204" pitchFamily="34" charset="0"/>
              <a:buChar char="•"/>
            </a:pPr>
            <a:r>
              <a:rPr lang="tr-TR" sz="1600" dirty="0">
                <a:latin typeface="Times New Roman" panose="02020603050405020304" pitchFamily="18" charset="0"/>
                <a:ea typeface="Calibri" panose="020F0502020204030204" pitchFamily="34" charset="0"/>
                <a:cs typeface="Times New Roman" panose="02020603050405020304" pitchFamily="18" charset="0"/>
              </a:rPr>
              <a:t>Konuyla ilgili her şeyi anlatabilmek için çok hızlı konuşmayın. Yapmanız gereken, normal konuşma hızınızı korumak ve kelimelerin doğru telaffuzuna dikkat etmektir. Nefesinizi yeterli şekilde kullanmak, zamanı kontrol etmenizin yanı sıra kelimeleri de yutmanızı engelleyecektir. Sesli alıştırmalar yapmak hatalarınızı daha kolay anlamanızı sağlayacaktır. Bu alıştırmaları karşınızda olan birine anlatarak veya sesinizi kaydederek yapabilirsiniz, bu kayıtta fark ettiğiniz kısımlara çalışmak, süre kontrolünün yanı sıra vurgularınızı da kontrol etmede size yardımcı olacaktır.</a:t>
            </a: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1057588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67286E-8599-4867-8C81-F3642CFBCF07}"/>
              </a:ext>
            </a:extLst>
          </p:cNvPr>
          <p:cNvSpPr>
            <a:spLocks noGrp="1"/>
          </p:cNvSpPr>
          <p:nvPr>
            <p:ph type="title"/>
          </p:nvPr>
        </p:nvSpPr>
        <p:spPr>
          <a:xfrm>
            <a:off x="2590799" y="405808"/>
            <a:ext cx="3962400" cy="58056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br>
              <a:rPr lang="tr-TR" dirty="0">
                <a:latin typeface="Times New Roman" panose="02020603050405020304" pitchFamily="18" charset="0"/>
                <a:cs typeface="Times New Roman" panose="02020603050405020304" pitchFamily="18" charset="0"/>
              </a:rPr>
            </a:br>
            <a:endParaRPr lang="tr-TR" dirty="0"/>
          </a:p>
        </p:txBody>
      </p:sp>
      <p:sp>
        <p:nvSpPr>
          <p:cNvPr id="3" name="Metin Yer Tutucusu 2">
            <a:extLst>
              <a:ext uri="{FF2B5EF4-FFF2-40B4-BE49-F238E27FC236}">
                <a16:creationId xmlns:a16="http://schemas.microsoft.com/office/drawing/2014/main" id="{37CCBEC9-071F-49F2-8A82-CFF0C33B97CC}"/>
              </a:ext>
            </a:extLst>
          </p:cNvPr>
          <p:cNvSpPr>
            <a:spLocks noGrp="1"/>
          </p:cNvSpPr>
          <p:nvPr>
            <p:ph type="body" idx="1"/>
          </p:nvPr>
        </p:nvSpPr>
        <p:spPr>
          <a:xfrm>
            <a:off x="609599" y="1733550"/>
            <a:ext cx="7924800" cy="1641475"/>
          </a:xfrm>
        </p:spPr>
        <p:txBody>
          <a:bodyPr/>
          <a:lstStyle/>
          <a:p>
            <a:pPr marL="342900" lvl="0" indent="-342900">
              <a:lnSpc>
                <a:spcPct val="90000"/>
              </a:lnSpc>
              <a:spcBef>
                <a:spcPts val="1000"/>
              </a:spcBef>
              <a:buFont typeface="Arial" panose="020B0604020202020204" pitchFamily="34" charset="0"/>
              <a:buAutoNum type="arabicPeriod" startAt="3"/>
              <a:defRPr/>
            </a:pPr>
            <a:r>
              <a:rPr lang="tr-TR"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Jest ve Mimikler</a:t>
            </a:r>
          </a:p>
          <a:p>
            <a:pPr marL="342900" lvl="0" indent="-342900">
              <a:lnSpc>
                <a:spcPct val="90000"/>
              </a:lnSpc>
              <a:spcBef>
                <a:spcPts val="1000"/>
              </a:spcBef>
              <a:buFont typeface="Arial" panose="020B0604020202020204" pitchFamily="34" charset="0"/>
              <a:buAutoNum type="arabicPeriod" startAt="3"/>
              <a:defRPr/>
            </a:pPr>
            <a:endPar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735330" lvl="0" indent="-285750">
              <a:lnSpc>
                <a:spcPct val="90000"/>
              </a:lnSpc>
              <a:spcBef>
                <a:spcPts val="1000"/>
              </a:spcBef>
              <a:buFont typeface="Arial" panose="020B0604020202020204" pitchFamily="34" charset="0"/>
              <a:buChar char="•"/>
              <a:defRPr/>
            </a:pPr>
            <a:r>
              <a:rPr lang="tr-TR"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Altın kural "Doğal olun ve rahatlayın!" Beden dili konuşmanın bir başka önemli parçasıdır ve olumlu ya da olumsuz yönde büyük bir etkisi olabilir. Göz teması, yüz ifadeleri, duruş, hareketler; jestler beden dili türleri olarak sıralanabilir.</a:t>
            </a: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371755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CF4C07-AD1B-446E-ABDE-02E1E962286C}"/>
              </a:ext>
            </a:extLst>
          </p:cNvPr>
          <p:cNvSpPr>
            <a:spLocks noGrp="1"/>
          </p:cNvSpPr>
          <p:nvPr>
            <p:ph type="title"/>
          </p:nvPr>
        </p:nvSpPr>
        <p:spPr>
          <a:xfrm>
            <a:off x="1339103" y="438150"/>
            <a:ext cx="6465794" cy="43088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endParaRPr lang="tr-TR" sz="2800" dirty="0"/>
          </a:p>
        </p:txBody>
      </p:sp>
      <p:sp>
        <p:nvSpPr>
          <p:cNvPr id="3" name="Metin Yer Tutucusu 2">
            <a:extLst>
              <a:ext uri="{FF2B5EF4-FFF2-40B4-BE49-F238E27FC236}">
                <a16:creationId xmlns:a16="http://schemas.microsoft.com/office/drawing/2014/main" id="{C970A3DE-3372-4A1B-B898-6C61D93D1D04}"/>
              </a:ext>
            </a:extLst>
          </p:cNvPr>
          <p:cNvSpPr>
            <a:spLocks noGrp="1"/>
          </p:cNvSpPr>
          <p:nvPr>
            <p:ph type="body" idx="1"/>
          </p:nvPr>
        </p:nvSpPr>
        <p:spPr>
          <a:xfrm>
            <a:off x="685800" y="1352550"/>
            <a:ext cx="7696200" cy="2985433"/>
          </a:xfrm>
        </p:spPr>
        <p:txBody>
          <a:bodyPr/>
          <a:lstStyle/>
          <a:p>
            <a:pPr lvl="0"/>
            <a:r>
              <a:rPr lang="tr-TR" sz="1600" b="1" dirty="0">
                <a:latin typeface="Times New Roman" panose="02020603050405020304" pitchFamily="18" charset="0"/>
                <a:ea typeface="Calibri" panose="020F0502020204030204" pitchFamily="34" charset="0"/>
                <a:cs typeface="Times New Roman" panose="02020603050405020304" pitchFamily="18" charset="0"/>
              </a:rPr>
              <a:t>Görsel içerikler</a:t>
            </a:r>
          </a:p>
          <a:p>
            <a:pPr lvl="0"/>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735330" indent="-285750" algn="l">
              <a:buFont typeface="Arial" panose="020B0604020202020204" pitchFamily="34" charset="0"/>
              <a:buChar char="•"/>
            </a:pPr>
            <a:r>
              <a:rPr lang="tr-TR" sz="1600" dirty="0">
                <a:latin typeface="Times New Roman" panose="02020603050405020304" pitchFamily="18" charset="0"/>
                <a:ea typeface="Calibri" panose="020F0502020204030204" pitchFamily="34" charset="0"/>
                <a:cs typeface="Times New Roman" panose="02020603050405020304" pitchFamily="18" charset="0"/>
              </a:rPr>
              <a:t>Mesajı geliştirmek için bir sunumda görsel yardımcılar kullanmak iyidir. Görsel yardımcılar altında grafikler, haritalar, çizimler, modeller, nesneler, çizelgeler, fotoğraflar, resimler ve videolar listelenebilir.  Görseller, konuşmayı destekler nitelikte olmalıdır. Çok fazla bilgi, çok fazla renk veya yazı tipi göstererek dinleyicilerin dikkati dağıtılmamalıdır. Videolar bir veya iki dakikadan uzun kullanılmamalıdır.</a:t>
            </a:r>
          </a:p>
          <a:p>
            <a:pPr marL="449580" indent="0" algn="l">
              <a:buNone/>
            </a:pPr>
            <a:endParaRPr lang="tr-TR" sz="1600" dirty="0">
              <a:latin typeface="Times New Roman" panose="02020603050405020304" pitchFamily="18" charset="0"/>
              <a:ea typeface="Calibri" panose="020F0502020204030204" pitchFamily="34" charset="0"/>
              <a:cs typeface="Times New Roman" panose="02020603050405020304" pitchFamily="18" charset="0"/>
            </a:endParaRPr>
          </a:p>
          <a:p>
            <a:pPr marL="735330" indent="-285750" algn="l">
              <a:buFont typeface="Arial" panose="020B0604020202020204" pitchFamily="34" charset="0"/>
              <a:buChar char="•"/>
            </a:pPr>
            <a:r>
              <a:rPr lang="tr-TR" sz="1600" dirty="0">
                <a:latin typeface="Times New Roman" panose="02020603050405020304" pitchFamily="18" charset="0"/>
                <a:ea typeface="Calibri" panose="020F0502020204030204" pitchFamily="34" charset="0"/>
                <a:cs typeface="Times New Roman" panose="02020603050405020304" pitchFamily="18" charset="0"/>
              </a:rPr>
              <a:t>İzleyicilerin dikkatini vurgulamak istediğiniz noktalara çekmeyi unutmayın, ancak görseldeki her şeyi açıklayarak fazlalıktan kaçının.</a:t>
            </a: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1626486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CF4C07-AD1B-446E-ABDE-02E1E962286C}"/>
              </a:ext>
            </a:extLst>
          </p:cNvPr>
          <p:cNvSpPr>
            <a:spLocks noGrp="1"/>
          </p:cNvSpPr>
          <p:nvPr>
            <p:ph type="title"/>
          </p:nvPr>
        </p:nvSpPr>
        <p:spPr>
          <a:xfrm>
            <a:off x="1339103" y="438150"/>
            <a:ext cx="6465794" cy="430887"/>
          </a:xfrm>
        </p:spPr>
        <p:txBody>
          <a:bodyPr/>
          <a:lstStyle/>
          <a:p>
            <a:pPr algn="ctr"/>
            <a:r>
              <a:rPr lang="tr-TR" sz="2800" b="1" dirty="0">
                <a:latin typeface="Times New Roman" panose="02020603050405020304" pitchFamily="18" charset="0"/>
                <a:cs typeface="Times New Roman" panose="02020603050405020304" pitchFamily="18" charset="0"/>
              </a:rPr>
              <a:t>Sunum İçin Öneriler</a:t>
            </a:r>
            <a:endParaRPr lang="tr-TR" sz="2800" dirty="0"/>
          </a:p>
        </p:txBody>
      </p:sp>
      <p:sp>
        <p:nvSpPr>
          <p:cNvPr id="3" name="Metin Yer Tutucusu 2">
            <a:extLst>
              <a:ext uri="{FF2B5EF4-FFF2-40B4-BE49-F238E27FC236}">
                <a16:creationId xmlns:a16="http://schemas.microsoft.com/office/drawing/2014/main" id="{C970A3DE-3372-4A1B-B898-6C61D93D1D04}"/>
              </a:ext>
            </a:extLst>
          </p:cNvPr>
          <p:cNvSpPr>
            <a:spLocks noGrp="1"/>
          </p:cNvSpPr>
          <p:nvPr>
            <p:ph type="body" idx="1"/>
          </p:nvPr>
        </p:nvSpPr>
        <p:spPr>
          <a:xfrm>
            <a:off x="1066800" y="1733550"/>
            <a:ext cx="7507020" cy="1754326"/>
          </a:xfrm>
        </p:spPr>
        <p:txBody>
          <a:bodyPr/>
          <a:lstStyle/>
          <a:p>
            <a:r>
              <a:rPr lang="tr-TR" sz="1600" b="1" dirty="0">
                <a:latin typeface="Times New Roman" panose="02020603050405020304" pitchFamily="18" charset="0"/>
                <a:ea typeface="Calibri" panose="020F0502020204030204" pitchFamily="34" charset="0"/>
                <a:cs typeface="Times New Roman" panose="02020603050405020304" pitchFamily="18" charset="0"/>
              </a:rPr>
              <a:t>SONUÇ</a:t>
            </a:r>
          </a:p>
          <a:p>
            <a:r>
              <a:rPr lang="tr-TR" sz="1600" b="1" dirty="0">
                <a:latin typeface="Times New Roman" panose="02020603050405020304" pitchFamily="18" charset="0"/>
                <a:ea typeface="Calibri" panose="020F0502020204030204" pitchFamily="34" charset="0"/>
                <a:cs typeface="Times New Roman" panose="02020603050405020304" pitchFamily="18" charset="0"/>
              </a:rPr>
              <a:t>  </a:t>
            </a:r>
          </a:p>
          <a:p>
            <a:r>
              <a:rPr lang="tr-TR" sz="1600" b="1" dirty="0">
                <a:latin typeface="Times New Roman" panose="02020603050405020304" pitchFamily="18" charset="0"/>
                <a:ea typeface="Calibri" panose="020F0502020204030204" pitchFamily="34" charset="0"/>
                <a:cs typeface="Times New Roman" panose="02020603050405020304" pitchFamily="18" charset="0"/>
              </a:rPr>
              <a:t> </a:t>
            </a:r>
            <a:r>
              <a:rPr lang="tr-TR" sz="1600" dirty="0">
                <a:latin typeface="Times New Roman" panose="02020603050405020304" pitchFamily="18" charset="0"/>
                <a:ea typeface="Calibri" panose="020F0502020204030204" pitchFamily="34" charset="0"/>
                <a:cs typeface="Times New Roman" panose="02020603050405020304" pitchFamily="18" charset="0"/>
              </a:rPr>
              <a:t>Tüm dikkatin yeniden kazanılması için sonuç uygun bir şekilde duyurulmalıdır. Giriş bölümünde sorduğunuz sorularla ilgili olarak konuşmanızı toparlayın. Tüm alakasız ayrıntılardan kaçının. Sonra konuşmanızın mesajını tekrarlayan son bir cümle ile bitirebilirsiniz.</a:t>
            </a:r>
          </a:p>
          <a:p>
            <a:endParaRPr lang="tr-TR" dirty="0"/>
          </a:p>
        </p:txBody>
      </p:sp>
      <p:sp>
        <p:nvSpPr>
          <p:cNvPr id="6" name="Metin kutusu 5"/>
          <p:cNvSpPr txBox="1"/>
          <p:nvPr/>
        </p:nvSpPr>
        <p:spPr>
          <a:xfrm>
            <a:off x="2057400" y="4881890"/>
            <a:ext cx="5410200" cy="261610"/>
          </a:xfrm>
          <a:prstGeom prst="rect">
            <a:avLst/>
          </a:prstGeom>
          <a:noFill/>
        </p:spPr>
        <p:txBody>
          <a:bodyPr wrap="square" rtlCol="0">
            <a:spAutoFit/>
          </a:bodyPr>
          <a:lstStyle/>
          <a:p>
            <a:r>
              <a:rPr lang="tr-TR" sz="1100" dirty="0">
                <a:solidFill>
                  <a:schemeClr val="bg1">
                    <a:lumMod val="50000"/>
                  </a:schemeClr>
                </a:solidFill>
              </a:rPr>
              <a:t>*BU SAYFA ÖNERİ AMAÇLI OLUP SUNUMUNUZA EKLEMENİZ GEREKMEMEKTEDİR.</a:t>
            </a:r>
          </a:p>
        </p:txBody>
      </p:sp>
      <p:pic>
        <p:nvPicPr>
          <p:cNvPr id="7" name="Resim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57150"/>
            <a:ext cx="1600200" cy="1066800"/>
          </a:xfrm>
          <a:prstGeom prst="rect">
            <a:avLst/>
          </a:prstGeom>
        </p:spPr>
      </p:pic>
    </p:spTree>
    <p:extLst>
      <p:ext uri="{BB962C8B-B14F-4D97-AF65-F5344CB8AC3E}">
        <p14:creationId xmlns:p14="http://schemas.microsoft.com/office/powerpoint/2010/main" val="26056828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TASNİF DIŞI"/>
  <p:tag name="BJHEADERFOOTERTEXTMARKING" val="TASNİF DIŞI"/>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d="http://www.w3.org/2001/XMLSchema" xmlns:xsi="http://www.w3.org/2001/XMLSchema-instance" xmlns="http://www.boldonjames.com/2008/01/sie/internal/label" sislVersion="0" policy="3b2a402a-7aa0-470f-8732-c65458ab17ee" origin="userSelected">
  <element uid="d4613254-63f1-4b12-8c89-ea1ca2a88f12" value=""/>
</sisl>
</file>

<file path=customXml/itemProps1.xml><?xml version="1.0" encoding="utf-8"?>
<ds:datastoreItem xmlns:ds="http://schemas.openxmlformats.org/officeDocument/2006/customXml" ds:itemID="{AA264CC6-E214-4291-808A-572C45D22A98}">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
  <TotalTime>368</TotalTime>
  <Words>1117</Words>
  <Application>Microsoft Office PowerPoint</Application>
  <PresentationFormat>On-screen Show (16:9)</PresentationFormat>
  <Paragraphs>156</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Sunum İçin Öneriler</vt:lpstr>
      <vt:lpstr>Sunum İçin Öneriler</vt:lpstr>
      <vt:lpstr>Sunum İçin Öneriler</vt:lpstr>
      <vt:lpstr>Sunum İçin Öneriler</vt:lpstr>
      <vt:lpstr>Sunum İçin Öneriler </vt:lpstr>
      <vt:lpstr>Sunum İçin Öneriler</vt:lpstr>
      <vt:lpstr>Sunum İçin Öneriler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Busra Coskun</dc:creator>
  <cp:lastModifiedBy>Muammer Kılçık</cp:lastModifiedBy>
  <cp:revision>40</cp:revision>
  <dcterms:created xsi:type="dcterms:W3CDTF">2020-08-22T14:41:10Z</dcterms:created>
  <dcterms:modified xsi:type="dcterms:W3CDTF">2025-08-18T13:00:04Z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2020-08-19T00:00:00Z</vt:filetime>
  </property>
  <property fmtid="{D5CDD505-2E9C-101B-9397-08002B2CF9AE}" pid="3" name="Creator">
    <vt:lpwstr>Microsoft® PowerPoint® 2010</vt:lpwstr>
  </property>
  <property fmtid="{D5CDD505-2E9C-101B-9397-08002B2CF9AE}" pid="4" name="LastSaved">
    <vt:filetime>2020-08-22T00:00:00Z</vt:filetime>
  </property>
  <property fmtid="{D5CDD505-2E9C-101B-9397-08002B2CF9AE}" pid="5" name="docIndexRef">
    <vt:lpwstr>760a2597-be75-4eb1-9a30-3004b69f6386</vt:lpwstr>
  </property>
  <property fmtid="{D5CDD505-2E9C-101B-9397-08002B2CF9AE}" pid="6" name="bjClsUserRVM">
    <vt:lpwstr>[]</vt:lpwstr>
  </property>
  <property fmtid="{D5CDD505-2E9C-101B-9397-08002B2CF9AE}" pid="7" name="bjSaver">
    <vt:lpwstr>xpxdbykczZRLA6BOy/Ya9EiLa6yM6oib</vt:lpwstr>
  </property>
  <property fmtid="{D5CDD505-2E9C-101B-9397-08002B2CF9AE}" pid="8" name="bjDocumentSecurityLabel">
    <vt:lpwstr>TASNİF DIŞI</vt:lpwstr>
  </property>
  <property fmtid="{D5CDD505-2E9C-101B-9397-08002B2CF9AE}" pid="9" name="bjDocumentLabelXML">
    <vt:lpwstr>&lt;?xml version="1.0" encoding="us-ascii"?&gt;&lt;sisl xmlns:xsd="http://www.w3.org/2001/XMLSchema" xmlns:xsi="http://www.w3.org/2001/XMLSchema-instance" sislVersion="0" policy="3b2a402a-7aa0-470f-8732-c65458ab17ee" origin="userSelected" xmlns="http://www.boldonj</vt:lpwstr>
  </property>
  <property fmtid="{D5CDD505-2E9C-101B-9397-08002B2CF9AE}" pid="10" name="bjDocumentLabelXML-0">
    <vt:lpwstr>ames.com/2008/01/sie/internal/label"&gt;&lt;element uid="d4613254-63f1-4b12-8c89-ea1ca2a88f12" value="" /&gt;&lt;/sisl&gt;</vt:lpwstr>
  </property>
</Properties>
</file>